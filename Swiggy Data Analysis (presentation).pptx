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95" r:id="rId7"/>
    <p:sldId id="296" r:id="rId8"/>
    <p:sldId id="261" r:id="rId9"/>
    <p:sldId id="262" r:id="rId10"/>
    <p:sldId id="289" r:id="rId11"/>
    <p:sldId id="264" r:id="rId12"/>
    <p:sldId id="258" r:id="rId13"/>
    <p:sldId id="278" r:id="rId14"/>
    <p:sldId id="266" r:id="rId15"/>
    <p:sldId id="268" r:id="rId16"/>
    <p:sldId id="270" r:id="rId17"/>
    <p:sldId id="297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C903214-E9E4-4D35-8875-481C5E882E0D}">
          <p14:sldIdLst>
            <p14:sldId id="256"/>
            <p14:sldId id="277"/>
            <p14:sldId id="295"/>
            <p14:sldId id="296"/>
            <p14:sldId id="261"/>
            <p14:sldId id="262"/>
            <p14:sldId id="289"/>
            <p14:sldId id="264"/>
            <p14:sldId id="258"/>
            <p14:sldId id="278"/>
            <p14:sldId id="266"/>
            <p14:sldId id="268"/>
            <p14:sldId id="270"/>
            <p14:sldId id="297"/>
          </p14:sldIdLst>
        </p14:section>
        <p14:section name="Thank you" id="{451E768D-FA8D-4F77-9167-3E6E4CA20B20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019"/>
    <a:srgbClr val="B94847"/>
    <a:srgbClr val="D39C39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DH\SQL%20Databricks\Swiggy%20project\M_%20insight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Total_orders!$C$4</c:f>
              <c:strCache>
                <c:ptCount val="1"/>
                <c:pt idx="0">
                  <c:v>Total_orders</c:v>
                </c:pt>
              </c:strCache>
            </c:strRef>
          </c:tx>
          <c:spPr>
            <a:solidFill>
              <a:srgbClr val="FC801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394-4C0B-86DB-1ABC45E7C4C1}"/>
              </c:ext>
            </c:extLst>
          </c:dPt>
          <c:dPt>
            <c:idx val="1"/>
            <c:invertIfNegative val="0"/>
            <c:bubble3D val="0"/>
            <c:spPr>
              <a:solidFill>
                <a:srgbClr val="FC80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94-4C0B-86DB-1ABC45E7C4C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Total_orders!$B$5:$B$6</c:f>
              <c:strCache>
                <c:ptCount val="2"/>
                <c:pt idx="0">
                  <c:v>Hyderabad</c:v>
                </c:pt>
                <c:pt idx="1">
                  <c:v>Bangalore</c:v>
                </c:pt>
              </c:strCache>
            </c:strRef>
          </c:cat>
          <c:val>
            <c:numRef>
              <c:f>Total_orders!$C$5:$C$6</c:f>
              <c:numCache>
                <c:formatCode>_(* #,##0_);_(* \(#,##0\);_(* "-"??_);_(@_)</c:formatCode>
                <c:ptCount val="2"/>
                <c:pt idx="0">
                  <c:v>129640</c:v>
                </c:pt>
                <c:pt idx="1">
                  <c:v>128743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94-4C0B-86DB-1ABC45E7C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2226735"/>
        <c:axId val="1612229615"/>
      </c:barChart>
      <c:catAx>
        <c:axId val="1612226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2229615"/>
        <c:crosses val="autoZero"/>
        <c:auto val="1"/>
        <c:lblAlgn val="ctr"/>
        <c:lblOffset val="100"/>
        <c:noMultiLvlLbl val="0"/>
      </c:catAx>
      <c:valAx>
        <c:axId val="1612229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2226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Delivery_Success_Rate Hyderabad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rgbClr val="FC8019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B3C-4816-878F-670455F5AE61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B3C-4816-878F-670455F5AE61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B3C-4816-878F-670455F5AE6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Delivery_Success_rate!$B$4:$C$6</c:f>
              <c:multiLvlStrCache>
                <c:ptCount val="3"/>
                <c:lvl>
                  <c:pt idx="0">
                    <c:v>WEB</c:v>
                  </c:pt>
                  <c:pt idx="1">
                    <c:v>IOS</c:v>
                  </c:pt>
                  <c:pt idx="2">
                    <c:v>ANDROID</c:v>
                  </c:pt>
                </c:lvl>
                <c:lvl>
                  <c:pt idx="0">
                    <c:v>Hyderabad</c:v>
                  </c:pt>
                  <c:pt idx="1">
                    <c:v>Hyderabad</c:v>
                  </c:pt>
                  <c:pt idx="2">
                    <c:v>Hyderabad</c:v>
                  </c:pt>
                </c:lvl>
              </c:multiLvlStrCache>
            </c:multiLvlStrRef>
          </c:cat>
          <c:val>
            <c:numRef>
              <c:f>Delivery_Success_rate!$D$4:$D$6</c:f>
              <c:numCache>
                <c:formatCode>General</c:formatCode>
                <c:ptCount val="3"/>
                <c:pt idx="0">
                  <c:v>3836</c:v>
                </c:pt>
                <c:pt idx="1">
                  <c:v>19192</c:v>
                </c:pt>
                <c:pt idx="2">
                  <c:v>53661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3C-4816-878F-670455F5AE6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DELIVERY_SUCCESS_RATE BANGALORE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B40-4A61-9015-0B7B54B14F7E}"/>
              </c:ext>
            </c:extLst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B40-4A61-9015-0B7B54B14F7E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B40-4A61-9015-0B7B54B14F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Delivery_Success_rate!$B$7:$C$9</c:f>
              <c:multiLvlStrCache>
                <c:ptCount val="3"/>
                <c:lvl>
                  <c:pt idx="0">
                    <c:v>WEB</c:v>
                  </c:pt>
                  <c:pt idx="1">
                    <c:v>ANDROID</c:v>
                  </c:pt>
                  <c:pt idx="2">
                    <c:v>IOS</c:v>
                  </c:pt>
                </c:lvl>
                <c:lvl>
                  <c:pt idx="0">
                    <c:v>Bangalore</c:v>
                  </c:pt>
                  <c:pt idx="1">
                    <c:v>Bangalore</c:v>
                  </c:pt>
                  <c:pt idx="2">
                    <c:v>Bangalore</c:v>
                  </c:pt>
                </c:lvl>
              </c:multiLvlStrCache>
            </c:multiLvlStrRef>
          </c:cat>
          <c:val>
            <c:numRef>
              <c:f>Delivery_Success_rate!$D$7:$D$9</c:f>
              <c:numCache>
                <c:formatCode>General</c:formatCode>
                <c:ptCount val="3"/>
                <c:pt idx="0">
                  <c:v>3809</c:v>
                </c:pt>
                <c:pt idx="1">
                  <c:v>53154</c:v>
                </c:pt>
                <c:pt idx="2">
                  <c:v>19049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40-4A61-9015-0B7B54B14F7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Sum of monthly_net_revenue by year_month and 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Bangalore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Lit>
              <c:ptCount val="13"/>
              <c:pt idx="0">
                <c:v>2024-12</c:v>
              </c:pt>
              <c:pt idx="1">
                <c:v>2025-01</c:v>
              </c:pt>
              <c:pt idx="2">
                <c:v>2025-02</c:v>
              </c:pt>
              <c:pt idx="3">
                <c:v>2025-03</c:v>
              </c:pt>
              <c:pt idx="4">
                <c:v>2025-04</c:v>
              </c:pt>
              <c:pt idx="5">
                <c:v>2025-05</c:v>
              </c:pt>
              <c:pt idx="6">
                <c:v>2025-06</c:v>
              </c:pt>
              <c:pt idx="7">
                <c:v>2025-07</c:v>
              </c:pt>
              <c:pt idx="8">
                <c:v>2025-08</c:v>
              </c:pt>
              <c:pt idx="9">
                <c:v>2025-09</c:v>
              </c:pt>
              <c:pt idx="10">
                <c:v>2025-10</c:v>
              </c:pt>
              <c:pt idx="11">
                <c:v>2025-11</c:v>
              </c:pt>
              <c:pt idx="12">
                <c:v>2025-12</c:v>
              </c:pt>
            </c:strLit>
          </c:cat>
          <c:val>
            <c:numLit>
              <c:formatCode>General</c:formatCode>
              <c:ptCount val="13"/>
              <c:pt idx="0">
                <c:v>212852</c:v>
              </c:pt>
              <c:pt idx="1">
                <c:v>1509152</c:v>
              </c:pt>
              <c:pt idx="2">
                <c:v>1360200</c:v>
              </c:pt>
              <c:pt idx="3">
                <c:v>1522441</c:v>
              </c:pt>
              <c:pt idx="4">
                <c:v>1507273</c:v>
              </c:pt>
              <c:pt idx="5">
                <c:v>1547008</c:v>
              </c:pt>
              <c:pt idx="6">
                <c:v>1473052</c:v>
              </c:pt>
              <c:pt idx="7">
                <c:v>1504706</c:v>
              </c:pt>
              <c:pt idx="8">
                <c:v>1553995</c:v>
              </c:pt>
              <c:pt idx="9">
                <c:v>1470183</c:v>
              </c:pt>
              <c:pt idx="10">
                <c:v>1498248</c:v>
              </c:pt>
              <c:pt idx="11">
                <c:v>1493787</c:v>
              </c:pt>
              <c:pt idx="12">
                <c:v>1297209</c:v>
              </c:pt>
            </c:numLit>
          </c:val>
          <c:extLst>
            <c:ext xmlns:c16="http://schemas.microsoft.com/office/drawing/2014/chart" uri="{C3380CC4-5D6E-409C-BE32-E72D297353CC}">
              <c16:uniqueId val="{00000000-CE0B-4C7C-8B94-89AF85E5C9CC}"/>
            </c:ext>
          </c:extLst>
        </c:ser>
        <c:ser>
          <c:idx val="1"/>
          <c:order val="1"/>
          <c:tx>
            <c:v>Hyderabad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Lit>
              <c:ptCount val="13"/>
              <c:pt idx="0">
                <c:v>2024-12</c:v>
              </c:pt>
              <c:pt idx="1">
                <c:v>2025-01</c:v>
              </c:pt>
              <c:pt idx="2">
                <c:v>2025-02</c:v>
              </c:pt>
              <c:pt idx="3">
                <c:v>2025-03</c:v>
              </c:pt>
              <c:pt idx="4">
                <c:v>2025-04</c:v>
              </c:pt>
              <c:pt idx="5">
                <c:v>2025-05</c:v>
              </c:pt>
              <c:pt idx="6">
                <c:v>2025-06</c:v>
              </c:pt>
              <c:pt idx="7">
                <c:v>2025-07</c:v>
              </c:pt>
              <c:pt idx="8">
                <c:v>2025-08</c:v>
              </c:pt>
              <c:pt idx="9">
                <c:v>2025-09</c:v>
              </c:pt>
              <c:pt idx="10">
                <c:v>2025-10</c:v>
              </c:pt>
              <c:pt idx="11">
                <c:v>2025-11</c:v>
              </c:pt>
              <c:pt idx="12">
                <c:v>2025-12</c:v>
              </c:pt>
            </c:strLit>
          </c:cat>
          <c:val>
            <c:numLit>
              <c:formatCode>General</c:formatCode>
              <c:ptCount val="13"/>
              <c:pt idx="0">
                <c:v>0</c:v>
              </c:pt>
              <c:pt idx="1">
                <c:v>1510542</c:v>
              </c:pt>
              <c:pt idx="2">
                <c:v>1384722</c:v>
              </c:pt>
              <c:pt idx="3">
                <c:v>1462671</c:v>
              </c:pt>
              <c:pt idx="4">
                <c:v>1439036</c:v>
              </c:pt>
              <c:pt idx="5">
                <c:v>1497108</c:v>
              </c:pt>
              <c:pt idx="6">
                <c:v>1439165</c:v>
              </c:pt>
              <c:pt idx="7">
                <c:v>1485074</c:v>
              </c:pt>
              <c:pt idx="8">
                <c:v>1444242</c:v>
              </c:pt>
              <c:pt idx="9">
                <c:v>1423537</c:v>
              </c:pt>
              <c:pt idx="10">
                <c:v>1457844</c:v>
              </c:pt>
              <c:pt idx="11">
                <c:v>1440031</c:v>
              </c:pt>
              <c:pt idx="12">
                <c:v>1298128</c:v>
              </c:pt>
            </c:numLit>
          </c:val>
          <c:extLst>
            <c:ext xmlns:c16="http://schemas.microsoft.com/office/drawing/2014/chart" uri="{C3380CC4-5D6E-409C-BE32-E72D297353CC}">
              <c16:uniqueId val="{00000001-CE0B-4C7C-8B94-89AF85E5C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94619967"/>
        <c:axId val="1694620447"/>
      </c:barChart>
      <c:catAx>
        <c:axId val="16946199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620447"/>
        <c:crosses val="autoZero"/>
        <c:auto val="1"/>
        <c:lblAlgn val="ctr"/>
        <c:lblOffset val="100"/>
        <c:noMultiLvlLbl val="0"/>
      </c:catAx>
      <c:valAx>
        <c:axId val="1694620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Net_revenue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4619967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Bangalore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C4-41C7-8064-63D7CC0FAA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'Raining Vs Not Raining'!$B$4:$C$5</c:f>
              <c:multiLvlStrCache>
                <c:ptCount val="2"/>
                <c:lvl>
                  <c:pt idx="0">
                    <c:v>FALSE</c:v>
                  </c:pt>
                  <c:pt idx="1">
                    <c:v>TRUE</c:v>
                  </c:pt>
                </c:lvl>
                <c:lvl>
                  <c:pt idx="0">
                    <c:v>Bangalore</c:v>
                  </c:pt>
                  <c:pt idx="1">
                    <c:v>Bangalore</c:v>
                  </c:pt>
                </c:lvl>
              </c:multiLvlStrCache>
            </c:multiLvlStrRef>
          </c:cat>
          <c:val>
            <c:numRef>
              <c:f>'Raining Vs Not Raining'!$E$4:$E$5</c:f>
              <c:numCache>
                <c:formatCode>General</c:formatCode>
                <c:ptCount val="2"/>
                <c:pt idx="0">
                  <c:v>33.658000000000001</c:v>
                </c:pt>
                <c:pt idx="1">
                  <c:v>42.152000000000001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C4-41C7-8064-63D7CC0FAA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41797311"/>
        <c:axId val="541799711"/>
      </c:barChart>
      <c:catAx>
        <c:axId val="5417973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Raining Vs Not Raining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99711"/>
        <c:crosses val="autoZero"/>
        <c:auto val="1"/>
        <c:lblAlgn val="ctr"/>
        <c:lblOffset val="100"/>
        <c:noMultiLvlLbl val="0"/>
      </c:catAx>
      <c:valAx>
        <c:axId val="5417997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Minutes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973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Hyderabad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7D-4B86-872E-1FBFA09CB8E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7D-4B86-872E-1FBFA09CB8E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'Raining Vs Not Raining'!$B$6:$C$7</c:f>
              <c:multiLvlStrCache>
                <c:ptCount val="2"/>
                <c:lvl>
                  <c:pt idx="0">
                    <c:v>FALSE</c:v>
                  </c:pt>
                  <c:pt idx="1">
                    <c:v>TRUE</c:v>
                  </c:pt>
                </c:lvl>
                <c:lvl>
                  <c:pt idx="0">
                    <c:v>Hyderabad</c:v>
                  </c:pt>
                  <c:pt idx="1">
                    <c:v>Hyderabad</c:v>
                  </c:pt>
                </c:lvl>
              </c:multiLvlStrCache>
            </c:multiLvlStrRef>
          </c:cat>
          <c:val>
            <c:numRef>
              <c:f>'Raining Vs Not Raining'!$E$6:$E$7</c:f>
              <c:numCache>
                <c:formatCode>General</c:formatCode>
                <c:ptCount val="2"/>
                <c:pt idx="0">
                  <c:v>31.646999999999998</c:v>
                </c:pt>
                <c:pt idx="1">
                  <c:v>40.145000000000003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7D-4B86-872E-1FBFA09CB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41798271"/>
        <c:axId val="541801631"/>
      </c:barChart>
      <c:catAx>
        <c:axId val="5417982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Raining Vs Not Raining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801631"/>
        <c:crosses val="autoZero"/>
        <c:auto val="1"/>
        <c:lblAlgn val="ctr"/>
        <c:lblOffset val="100"/>
        <c:noMultiLvlLbl val="0"/>
      </c:catAx>
      <c:valAx>
        <c:axId val="5418016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Minutes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17982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campaigns in Hyderabad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('Exposed orders'!$B$6:$C$7,'Exposed orders'!$B$10:$C$10,'Exposed orders'!$B$12:$C$12)</c:f>
              <c:multiLvlStrCache>
                <c:ptCount val="4"/>
                <c:lvl>
                  <c:pt idx="0">
                    <c:v>Hyderabad</c:v>
                  </c:pt>
                  <c:pt idx="1">
                    <c:v>Hyderabad</c:v>
                  </c:pt>
                  <c:pt idx="2">
                    <c:v>Hyderabad</c:v>
                  </c:pt>
                  <c:pt idx="3">
                    <c:v>Hyderabad</c:v>
                  </c:pt>
                </c:lvl>
                <c:lvl>
                  <c:pt idx="0">
                    <c:v>POPUP_202</c:v>
                  </c:pt>
                  <c:pt idx="1">
                    <c:v>PUSH_101</c:v>
                  </c:pt>
                  <c:pt idx="2">
                    <c:v>EMAIL_303</c:v>
                  </c:pt>
                  <c:pt idx="3">
                    <c:v>PAID_404</c:v>
                  </c:pt>
                </c:lvl>
              </c:multiLvlStrCache>
            </c:multiLvlStrRef>
          </c:cat>
          <c:val>
            <c:numRef>
              <c:f>('Exposed orders'!$D$6:$D$7,'Exposed orders'!$D$10,'Exposed orders'!$D$12)</c:f>
              <c:numCache>
                <c:formatCode>General</c:formatCode>
                <c:ptCount val="4"/>
                <c:pt idx="0">
                  <c:v>6925</c:v>
                </c:pt>
                <c:pt idx="1">
                  <c:v>6955</c:v>
                </c:pt>
                <c:pt idx="2">
                  <c:v>6924</c:v>
                </c:pt>
                <c:pt idx="3">
                  <c:v>6907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12-4A5A-AEA2-A7EC35195241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('Exposed orders'!$B$6:$C$7,'Exposed orders'!$B$10:$C$10,'Exposed orders'!$B$12:$C$12)</c:f>
              <c:multiLvlStrCache>
                <c:ptCount val="4"/>
                <c:lvl>
                  <c:pt idx="0">
                    <c:v>Hyderabad</c:v>
                  </c:pt>
                  <c:pt idx="1">
                    <c:v>Hyderabad</c:v>
                  </c:pt>
                  <c:pt idx="2">
                    <c:v>Hyderabad</c:v>
                  </c:pt>
                  <c:pt idx="3">
                    <c:v>Hyderabad</c:v>
                  </c:pt>
                </c:lvl>
                <c:lvl>
                  <c:pt idx="0">
                    <c:v>POPUP_202</c:v>
                  </c:pt>
                  <c:pt idx="1">
                    <c:v>PUSH_101</c:v>
                  </c:pt>
                  <c:pt idx="2">
                    <c:v>EMAIL_303</c:v>
                  </c:pt>
                  <c:pt idx="3">
                    <c:v>PAID_404</c:v>
                  </c:pt>
                </c:lvl>
              </c:multiLvlStrCache>
            </c:multiLvlStrRef>
          </c:cat>
          <c:val>
            <c:numRef>
              <c:f>('Exposed orders'!$E$6:$E$7,'Exposed orders'!$E$10,'Exposed orders'!$E$12)</c:f>
              <c:numCache>
                <c:formatCode>General</c:formatCode>
                <c:ptCount val="4"/>
                <c:pt idx="0">
                  <c:v>1514</c:v>
                </c:pt>
                <c:pt idx="1">
                  <c:v>1541</c:v>
                </c:pt>
                <c:pt idx="2">
                  <c:v>1507</c:v>
                </c:pt>
                <c:pt idx="3">
                  <c:v>1518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12-4A5A-AEA2-A7EC351952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1487519"/>
        <c:axId val="581477919"/>
      </c:barChart>
      <c:lineChart>
        <c:grouping val="standard"/>
        <c:varyColors val="0"/>
        <c:ser>
          <c:idx val="2"/>
          <c:order val="2"/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('Exposed orders'!$B$6:$C$7,'Exposed orders'!$B$10:$C$10,'Exposed orders'!$B$12:$C$12)</c:f>
              <c:multiLvlStrCache>
                <c:ptCount val="4"/>
                <c:lvl>
                  <c:pt idx="0">
                    <c:v>Hyderabad</c:v>
                  </c:pt>
                  <c:pt idx="1">
                    <c:v>Hyderabad</c:v>
                  </c:pt>
                  <c:pt idx="2">
                    <c:v>Hyderabad</c:v>
                  </c:pt>
                  <c:pt idx="3">
                    <c:v>Hyderabad</c:v>
                  </c:pt>
                </c:lvl>
                <c:lvl>
                  <c:pt idx="0">
                    <c:v>POPUP_202</c:v>
                  </c:pt>
                  <c:pt idx="1">
                    <c:v>PUSH_101</c:v>
                  </c:pt>
                  <c:pt idx="2">
                    <c:v>EMAIL_303</c:v>
                  </c:pt>
                  <c:pt idx="3">
                    <c:v>PAID_404</c:v>
                  </c:pt>
                </c:lvl>
              </c:multiLvlStrCache>
            </c:multiLvlStrRef>
          </c:cat>
          <c:val>
            <c:numRef>
              <c:f>('Exposed orders'!$F$6:$F$7,'Exposed orders'!$F$10,'Exposed orders'!$F$12)</c:f>
              <c:numCache>
                <c:formatCode>0.00%</c:formatCode>
                <c:ptCount val="4"/>
                <c:pt idx="0">
                  <c:v>0.21859999999999999</c:v>
                </c:pt>
                <c:pt idx="1">
                  <c:v>0.22159999999999999</c:v>
                </c:pt>
                <c:pt idx="2">
                  <c:v>0.21759999999999999</c:v>
                </c:pt>
                <c:pt idx="3">
                  <c:v>0.2198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B12-4A5A-AEA2-A7EC351952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81479359"/>
        <c:axId val="581478879"/>
      </c:lineChart>
      <c:catAx>
        <c:axId val="581487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477919"/>
        <c:crosses val="autoZero"/>
        <c:auto val="1"/>
        <c:lblAlgn val="ctr"/>
        <c:lblOffset val="100"/>
        <c:noMultiLvlLbl val="0"/>
      </c:catAx>
      <c:valAx>
        <c:axId val="581477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487519"/>
        <c:crosses val="autoZero"/>
        <c:crossBetween val="between"/>
      </c:valAx>
      <c:valAx>
        <c:axId val="581478879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479359"/>
        <c:crosses val="max"/>
        <c:crossBetween val="between"/>
      </c:valAx>
      <c:catAx>
        <c:axId val="5814793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14788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campaigns in Bangalore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('Exposed orders'!$B$5:$C$5,'Exposed orders'!$B$8:$C$9,'Exposed orders'!$B$11:$C$11)</c:f>
              <c:multiLvlStrCache>
                <c:ptCount val="4"/>
                <c:lvl>
                  <c:pt idx="0">
                    <c:v>Bangalore</c:v>
                  </c:pt>
                  <c:pt idx="1">
                    <c:v>Bangalore</c:v>
                  </c:pt>
                  <c:pt idx="2">
                    <c:v>Bangalore</c:v>
                  </c:pt>
                  <c:pt idx="3">
                    <c:v>Bangalore</c:v>
                  </c:pt>
                </c:lvl>
                <c:lvl>
                  <c:pt idx="0">
                    <c:v>POPUP_202</c:v>
                  </c:pt>
                  <c:pt idx="1">
                    <c:v>PUSH_101</c:v>
                  </c:pt>
                  <c:pt idx="2">
                    <c:v>EMAIL_303</c:v>
                  </c:pt>
                  <c:pt idx="3">
                    <c:v>PAID_404</c:v>
                  </c:pt>
                </c:lvl>
              </c:multiLvlStrCache>
            </c:multiLvlStrRef>
          </c:cat>
          <c:val>
            <c:numRef>
              <c:f>('Exposed orders'!$D$5,'Exposed orders'!$D$8:$D$9,'Exposed orders'!$D$11)</c:f>
              <c:numCache>
                <c:formatCode>General</c:formatCode>
                <c:ptCount val="4"/>
                <c:pt idx="0">
                  <c:v>6907</c:v>
                </c:pt>
                <c:pt idx="1">
                  <c:v>6921</c:v>
                </c:pt>
                <c:pt idx="2">
                  <c:v>6977</c:v>
                </c:pt>
                <c:pt idx="3">
                  <c:v>6826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BD-43E2-986F-414CE9C61452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('Exposed orders'!$B$5:$C$5,'Exposed orders'!$B$8:$C$9,'Exposed orders'!$B$11:$C$11)</c:f>
              <c:multiLvlStrCache>
                <c:ptCount val="4"/>
                <c:lvl>
                  <c:pt idx="0">
                    <c:v>Bangalore</c:v>
                  </c:pt>
                  <c:pt idx="1">
                    <c:v>Bangalore</c:v>
                  </c:pt>
                  <c:pt idx="2">
                    <c:v>Bangalore</c:v>
                  </c:pt>
                  <c:pt idx="3">
                    <c:v>Bangalore</c:v>
                  </c:pt>
                </c:lvl>
                <c:lvl>
                  <c:pt idx="0">
                    <c:v>POPUP_202</c:v>
                  </c:pt>
                  <c:pt idx="1">
                    <c:v>PUSH_101</c:v>
                  </c:pt>
                  <c:pt idx="2">
                    <c:v>EMAIL_303</c:v>
                  </c:pt>
                  <c:pt idx="3">
                    <c:v>PAID_404</c:v>
                  </c:pt>
                </c:lvl>
              </c:multiLvlStrCache>
            </c:multiLvlStrRef>
          </c:cat>
          <c:val>
            <c:numRef>
              <c:f>('Exposed orders'!$E$5,'Exposed orders'!$E$8:$E$9,'Exposed orders'!$E$11)</c:f>
              <c:numCache>
                <c:formatCode>General</c:formatCode>
                <c:ptCount val="4"/>
                <c:pt idx="0">
                  <c:v>1436</c:v>
                </c:pt>
                <c:pt idx="1">
                  <c:v>1541</c:v>
                </c:pt>
                <c:pt idx="2">
                  <c:v>1588</c:v>
                </c:pt>
                <c:pt idx="3">
                  <c:v>1537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BD-43E2-986F-414CE9C614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0718671"/>
        <c:axId val="580715311"/>
      </c:barChart>
      <c:lineChart>
        <c:grouping val="standard"/>
        <c:varyColors val="0"/>
        <c:ser>
          <c:idx val="2"/>
          <c:order val="2"/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('Exposed orders'!$B$5:$C$5,'Exposed orders'!$B$8:$C$9,'Exposed orders'!$B$11:$C$11)</c:f>
              <c:multiLvlStrCache>
                <c:ptCount val="4"/>
                <c:lvl>
                  <c:pt idx="0">
                    <c:v>Bangalore</c:v>
                  </c:pt>
                  <c:pt idx="1">
                    <c:v>Bangalore</c:v>
                  </c:pt>
                  <c:pt idx="2">
                    <c:v>Bangalore</c:v>
                  </c:pt>
                  <c:pt idx="3">
                    <c:v>Bangalore</c:v>
                  </c:pt>
                </c:lvl>
                <c:lvl>
                  <c:pt idx="0">
                    <c:v>POPUP_202</c:v>
                  </c:pt>
                  <c:pt idx="1">
                    <c:v>PUSH_101</c:v>
                  </c:pt>
                  <c:pt idx="2">
                    <c:v>EMAIL_303</c:v>
                  </c:pt>
                  <c:pt idx="3">
                    <c:v>PAID_404</c:v>
                  </c:pt>
                </c:lvl>
              </c:multiLvlStrCache>
            </c:multiLvlStrRef>
          </c:cat>
          <c:val>
            <c:numRef>
              <c:f>('Exposed orders'!$F$5,'Exposed orders'!$F$8:$F$9,'Exposed orders'!$F$11)</c:f>
              <c:numCache>
                <c:formatCode>0.00%</c:formatCode>
                <c:ptCount val="4"/>
                <c:pt idx="0">
                  <c:v>0.2079</c:v>
                </c:pt>
                <c:pt idx="1">
                  <c:v>0.22270000000000001</c:v>
                </c:pt>
                <c:pt idx="2">
                  <c:v>0.2276</c:v>
                </c:pt>
                <c:pt idx="3">
                  <c:v>0.22520000000000001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BD-43E2-986F-414CE9C614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80707631"/>
        <c:axId val="580707151"/>
      </c:lineChart>
      <c:catAx>
        <c:axId val="580718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0715311"/>
        <c:crosses val="autoZero"/>
        <c:auto val="1"/>
        <c:lblAlgn val="ctr"/>
        <c:lblOffset val="100"/>
        <c:noMultiLvlLbl val="0"/>
      </c:catAx>
      <c:valAx>
        <c:axId val="580715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0718671"/>
        <c:crosses val="autoZero"/>
        <c:crossBetween val="between"/>
      </c:valAx>
      <c:valAx>
        <c:axId val="580707151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0707631"/>
        <c:crosses val="max"/>
        <c:crossBetween val="between"/>
      </c:valAx>
      <c:catAx>
        <c:axId val="5807076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807071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Campaign vs no campaign</a:t>
            </a:r>
          </a:p>
          <a:p>
            <a:pPr>
              <a:defRPr/>
            </a:pPr>
            <a:r>
              <a:rPr lang="en-US"/>
              <a:t>HYderabad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14147640791476407"/>
          <c:y val="3.20898515844364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'Campaign vs no campaign'!$D$6</c:f>
              <c:strCache>
                <c:ptCount val="1"/>
                <c:pt idx="0">
                  <c:v>Total_orders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6C7-452F-8CA5-B9C1E1D7631D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6C7-452F-8CA5-B9C1E1D7631D}"/>
              </c:ext>
            </c:extLst>
          </c:dPt>
          <c:dLbls>
            <c:dLbl>
              <c:idx val="0"/>
              <c:layout>
                <c:manualLayout>
                  <c:x val="4.5068539993401803E-2"/>
                  <c:y val="-0.13048336906604624"/>
                </c:manualLayout>
              </c:layout>
              <c:tx>
                <c:rich>
                  <a:bodyPr/>
                  <a:lstStyle/>
                  <a:p>
                    <a:fld id="{097ABC01-C841-4501-A376-5A5951BDD82E}" type="CATEGORYNAME">
                      <a:rPr lang="en-US" sz="1100" b="1">
                        <a:solidFill>
                          <a:srgbClr val="FF0000"/>
                        </a:solidFill>
                      </a:rPr>
                      <a:pPr/>
                      <a:t>[CATEGORY NAME]</a:t>
                    </a:fld>
                    <a:r>
                      <a:rPr lang="en-US" sz="1100" b="1" baseline="0">
                        <a:solidFill>
                          <a:srgbClr val="FF0000"/>
                        </a:solidFill>
                      </a:rPr>
                      <a:t>, </a:t>
                    </a:r>
                    <a:fld id="{EB0B4ABD-7B4A-45FE-82CD-97F8459B6D60}" type="VALUE">
                      <a:rPr lang="en-US" sz="1100" b="1" baseline="0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r>
                      <a:rPr lang="en-US" sz="1100" b="1" baseline="0">
                        <a:solidFill>
                          <a:srgbClr val="FF0000"/>
                        </a:solidFill>
                      </a:rPr>
                      <a:t>, </a:t>
                    </a:r>
                    <a:fld id="{7B18A173-7C9A-41C8-BEE8-D76BCD1FB562}" type="PERCENTAGE">
                      <a:rPr lang="en-US" sz="1100" b="1" baseline="0">
                        <a:solidFill>
                          <a:srgbClr val="FF0000"/>
                        </a:solidFill>
                      </a:rPr>
                      <a:pPr/>
                      <a:t>[PERCENTAGE]</a:t>
                    </a:fld>
                    <a:endParaRPr lang="en-US" sz="1100" b="1" baseline="0">
                      <a:solidFill>
                        <a:srgbClr val="FF0000"/>
                      </a:solidFill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423064304461939"/>
                      <c:h val="0.1758046178633611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6C7-452F-8CA5-B9C1E1D7631D}"/>
                </c:ext>
              </c:extLst>
            </c:dLbl>
            <c:dLbl>
              <c:idx val="1"/>
              <c:layout>
                <c:manualLayout>
                  <c:x val="-2.3118608018825232E-2"/>
                  <c:y val="-4.6232682453154893E-2"/>
                </c:manualLayout>
              </c:layout>
              <c:tx>
                <c:rich>
                  <a:bodyPr/>
                  <a:lstStyle/>
                  <a:p>
                    <a:fld id="{706836D8-5393-4200-ADFE-A780FD99AC41}" type="VALUE">
                      <a:rPr lang="en-US" sz="1100" b="1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r>
                      <a:rPr lang="en-US" sz="1100" b="1">
                        <a:solidFill>
                          <a:srgbClr val="FF0000"/>
                        </a:solidFill>
                      </a:rPr>
                      <a:t>, </a:t>
                    </a:r>
                    <a:fld id="{E2A2B0EB-8D69-4757-9F26-1FEEBE573420}" type="PERCENTAGE">
                      <a:rPr lang="en-US" sz="1100" b="1">
                        <a:solidFill>
                          <a:srgbClr val="FF0000"/>
                        </a:solidFill>
                      </a:rPr>
                      <a:pPr/>
                      <a:t>[PERCENTAGE]</a:t>
                    </a:fld>
                    <a:endParaRPr lang="en-US" sz="1100" b="1">
                      <a:solidFill>
                        <a:srgbClr val="FF0000"/>
                      </a:solidFill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6C7-452F-8CA5-B9C1E1D763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('Campaign vs no campaign'!$B$7:$C$7,'Campaign vs no campaign'!$B$9:$C$9)</c:f>
              <c:multiLvlStrCache>
                <c:ptCount val="2"/>
                <c:lvl>
                  <c:pt idx="0">
                    <c:v>FALSE</c:v>
                  </c:pt>
                  <c:pt idx="1">
                    <c:v>TRUE</c:v>
                  </c:pt>
                </c:lvl>
                <c:lvl>
                  <c:pt idx="0">
                    <c:v>Hyderabad</c:v>
                  </c:pt>
                  <c:pt idx="1">
                    <c:v>Hyderabad</c:v>
                  </c:pt>
                </c:lvl>
              </c:multiLvlStrCache>
            </c:multiLvlStrRef>
          </c:cat>
          <c:val>
            <c:numRef>
              <c:f>('Campaign vs no campaign'!$D$7,'Campaign vs no campaign'!$D$9)</c:f>
              <c:numCache>
                <c:formatCode>General</c:formatCode>
                <c:ptCount val="2"/>
                <c:pt idx="0">
                  <c:v>51808</c:v>
                </c:pt>
                <c:pt idx="1">
                  <c:v>27711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C7-452F-8CA5-B9C1E1D7631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7030A0"/>
                </a:solidFill>
              </a:rPr>
              <a:t>Campaign vs no campaign</a:t>
            </a:r>
          </a:p>
          <a:p>
            <a:pPr>
              <a:defRPr/>
            </a:pPr>
            <a:r>
              <a:rPr lang="en-US">
                <a:solidFill>
                  <a:srgbClr val="7030A0"/>
                </a:solidFill>
              </a:rPr>
              <a:t>BANGALORE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18340053763440858"/>
          <c:y val="1.23762376237623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5">
                  <a:shade val="7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BAF-4D81-BCCB-B07AA2672C67}"/>
              </c:ext>
            </c:extLst>
          </c:dPt>
          <c:dPt>
            <c:idx val="1"/>
            <c:bubble3D val="0"/>
            <c:spPr>
              <a:solidFill>
                <a:schemeClr val="accent5">
                  <a:tint val="77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BAF-4D81-BCCB-B07AA2672C67}"/>
              </c:ext>
            </c:extLst>
          </c:dPt>
          <c:dLbls>
            <c:dLbl>
              <c:idx val="0"/>
              <c:layout>
                <c:manualLayout>
                  <c:x val="2.8700999068664679E-2"/>
                  <c:y val="-0.12027299186611583"/>
                </c:manualLayout>
              </c:layout>
              <c:tx>
                <c:rich>
                  <a:bodyPr/>
                  <a:lstStyle/>
                  <a:p>
                    <a:fld id="{AA084B97-A6E1-4AA7-BF58-32648CC8E1B3}" type="CATEGORYNAME">
                      <a:rPr lang="en-US" sz="1100">
                        <a:solidFill>
                          <a:srgbClr val="FF0000"/>
                        </a:solidFill>
                      </a:rPr>
                      <a:pPr/>
                      <a:t>[CATEGORY NAME]</a:t>
                    </a:fld>
                    <a:r>
                      <a:rPr lang="en-US" sz="1100" baseline="0">
                        <a:solidFill>
                          <a:srgbClr val="FF0000"/>
                        </a:solidFill>
                      </a:rPr>
                      <a:t>, </a:t>
                    </a:r>
                    <a:fld id="{B0B82556-0107-47A7-B9C5-842DCC96F9BE}" type="VALUE">
                      <a:rPr lang="en-US" sz="1100" baseline="0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r>
                      <a:rPr lang="en-US" sz="1100" baseline="0">
                        <a:solidFill>
                          <a:srgbClr val="FF0000"/>
                        </a:solidFill>
                      </a:rPr>
                      <a:t>, </a:t>
                    </a:r>
                    <a:fld id="{25CE5DF6-E9F2-4C9B-89B7-29850BB2E5A3}" type="PERCENTAGE">
                      <a:rPr lang="en-US" sz="1100" baseline="0">
                        <a:solidFill>
                          <a:srgbClr val="FF0000"/>
                        </a:solidFill>
                      </a:rPr>
                      <a:pPr/>
                      <a:t>[PERCENTAGE]</a:t>
                    </a:fld>
                    <a:endParaRPr lang="en-US" sz="1100" baseline="0">
                      <a:solidFill>
                        <a:srgbClr val="FF0000"/>
                      </a:solidFill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BAF-4D81-BCCB-B07AA2672C67}"/>
                </c:ext>
              </c:extLst>
            </c:dLbl>
            <c:dLbl>
              <c:idx val="1"/>
              <c:layout>
                <c:manualLayout>
                  <c:x val="-4.641753450173567E-2"/>
                  <c:y val="-0.14611301681349242"/>
                </c:manualLayout>
              </c:layout>
              <c:tx>
                <c:rich>
                  <a:bodyPr/>
                  <a:lstStyle/>
                  <a:p>
                    <a:fld id="{6DEA2C12-B81C-4215-ADD2-4136764077C4}" type="CATEGORYNAME">
                      <a:rPr lang="en-US" sz="1100">
                        <a:solidFill>
                          <a:srgbClr val="FF0000"/>
                        </a:solidFill>
                      </a:rPr>
                      <a:pPr/>
                      <a:t>[CATEGORY NAME]</a:t>
                    </a:fld>
                    <a:r>
                      <a:rPr lang="en-US" sz="1100" baseline="0">
                        <a:solidFill>
                          <a:srgbClr val="FF0000"/>
                        </a:solidFill>
                      </a:rPr>
                      <a:t>, </a:t>
                    </a:r>
                    <a:fld id="{A9F79DD2-8828-456E-BDB7-0047E8660622}" type="VALUE">
                      <a:rPr lang="en-US" sz="1100" baseline="0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r>
                      <a:rPr lang="en-US" sz="1100" baseline="0">
                        <a:solidFill>
                          <a:srgbClr val="FF0000"/>
                        </a:solidFill>
                      </a:rPr>
                      <a:t>, </a:t>
                    </a:r>
                    <a:fld id="{1D70D503-EB6D-4CF9-BE33-5EF8D98B1DC7}" type="PERCENTAGE">
                      <a:rPr lang="en-US" sz="1100" baseline="0">
                        <a:solidFill>
                          <a:srgbClr val="FF0000"/>
                        </a:solidFill>
                      </a:rPr>
                      <a:pPr/>
                      <a:t>[PERCENTAGE]</a:t>
                    </a:fld>
                    <a:endParaRPr lang="en-US" sz="1100" baseline="0">
                      <a:solidFill>
                        <a:srgbClr val="FF0000"/>
                      </a:solidFill>
                    </a:endParaRPr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BAF-4D81-BCCB-B07AA2672C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('Campaign vs no campaign'!$B$8:$C$8,'Campaign vs no campaign'!$B$10:$C$10)</c:f>
              <c:multiLvlStrCache>
                <c:ptCount val="2"/>
                <c:lvl>
                  <c:pt idx="0">
                    <c:v>FALSE</c:v>
                  </c:pt>
                  <c:pt idx="1">
                    <c:v>TRUE</c:v>
                  </c:pt>
                </c:lvl>
                <c:lvl>
                  <c:pt idx="0">
                    <c:v>Bangalore</c:v>
                  </c:pt>
                  <c:pt idx="1">
                    <c:v>Bangalore</c:v>
                  </c:pt>
                </c:lvl>
              </c:multiLvlStrCache>
            </c:multiLvlStrRef>
          </c:cat>
          <c:val>
            <c:numRef>
              <c:f>('Campaign vs no campaign'!$D$8,'Campaign vs no campaign'!$D$10)</c:f>
              <c:numCache>
                <c:formatCode>General</c:formatCode>
                <c:ptCount val="2"/>
                <c:pt idx="0">
                  <c:v>51250</c:v>
                </c:pt>
                <c:pt idx="1">
                  <c:v>27631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AF-4D81-BCCB-B07AA2672C6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2/4/2026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12" Type="http://schemas.openxmlformats.org/officeDocument/2006/relationships/image" Target="../media/image33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32.png"/><Relationship Id="rId5" Type="http://schemas.openxmlformats.org/officeDocument/2006/relationships/image" Target="../media/image39.sv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hahnawaazbagwan/" TargetMode="External"/><Relationship Id="rId2" Type="http://schemas.openxmlformats.org/officeDocument/2006/relationships/hyperlink" Target="mailto:Shahnawaaz1087@gmail.com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7136" y="4434840"/>
            <a:ext cx="6500676" cy="1122202"/>
          </a:xfrm>
        </p:spPr>
        <p:txBody>
          <a:bodyPr/>
          <a:lstStyle/>
          <a:p>
            <a:r>
              <a:rPr lang="en-US" sz="4400" b="1" i="1" dirty="0">
                <a:solidFill>
                  <a:srgbClr val="FC8019"/>
                </a:solidFill>
              </a:rPr>
              <a:t>Swiggy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97125" y="5636052"/>
            <a:ext cx="4941770" cy="396660"/>
          </a:xfrm>
        </p:spPr>
        <p:txBody>
          <a:bodyPr>
            <a:normAutofit/>
          </a:bodyPr>
          <a:lstStyle/>
          <a:p>
            <a:r>
              <a:rPr lang="en-US" sz="2000" i="1" dirty="0">
                <a:solidFill>
                  <a:schemeClr val="accent4">
                    <a:lumMod val="75000"/>
                  </a:schemeClr>
                </a:solidFill>
              </a:rPr>
              <a:t>Shahnawaaz Bagwan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74" y="0"/>
            <a:ext cx="3171825" cy="1325563"/>
          </a:xfrm>
        </p:spPr>
        <p:txBody>
          <a:bodyPr/>
          <a:lstStyle/>
          <a:p>
            <a:r>
              <a:rPr lang="en-US" dirty="0"/>
              <a:t>ABOUT Swiggy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777" y="1461551"/>
            <a:ext cx="5598243" cy="4758811"/>
          </a:xfrm>
        </p:spPr>
        <p:txBody>
          <a:bodyPr>
            <a:normAutofit fontScale="85000" lnSpcReduction="10000"/>
          </a:bodyPr>
          <a:lstStyle/>
          <a:p>
            <a:r>
              <a:rPr lang="en-US" sz="2200" b="1" dirty="0"/>
              <a:t>Founded:</a:t>
            </a:r>
            <a:r>
              <a:rPr lang="en-US" sz="2200" dirty="0"/>
              <a:t> 2014</a:t>
            </a:r>
          </a:p>
          <a:p>
            <a:r>
              <a:rPr lang="en-US" sz="2200" b="1" dirty="0"/>
              <a:t>Headquarters:</a:t>
            </a:r>
            <a:r>
              <a:rPr lang="en-US" sz="2200" dirty="0"/>
              <a:t> Bangalore, India</a:t>
            </a:r>
          </a:p>
          <a:p>
            <a:r>
              <a:rPr lang="en-US" sz="2200" b="1" dirty="0"/>
              <a:t>Industry:</a:t>
            </a:r>
            <a:r>
              <a:rPr lang="en-US" sz="2200" dirty="0"/>
              <a:t> Online Food Delivery &amp; Quick Commerce</a:t>
            </a:r>
          </a:p>
          <a:p>
            <a:r>
              <a:rPr lang="en-US" sz="2200" dirty="0"/>
              <a:t>Swiggy is one of India’s leading online food delivery platforms that connects customers with nearby restaurants through a mobile app and website. It enables fast, reliable, and convenient food ordering.</a:t>
            </a:r>
          </a:p>
          <a:p>
            <a:r>
              <a:rPr lang="en-US" sz="2200" b="1" dirty="0"/>
              <a:t>Services providing by Swiggy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/>
              <a:t>Food Delivery-- </a:t>
            </a:r>
            <a:r>
              <a:rPr lang="en-US" sz="2100" dirty="0"/>
              <a:t>Order from local restaurants</a:t>
            </a:r>
            <a:endParaRPr lang="en-US" sz="21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/>
              <a:t>Instamart-- </a:t>
            </a:r>
            <a:r>
              <a:rPr lang="en-US" sz="2100" dirty="0"/>
              <a:t>Instant grocery delivery</a:t>
            </a:r>
            <a:endParaRPr lang="en-US" sz="21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100" b="1" dirty="0"/>
              <a:t>Swiggy Genie-- </a:t>
            </a:r>
            <a:r>
              <a:rPr lang="en-US" sz="2100" dirty="0"/>
              <a:t>Pick-up and drop services</a:t>
            </a:r>
            <a:endParaRPr lang="en-US" sz="2100" b="1" dirty="0"/>
          </a:p>
          <a:p>
            <a:endParaRPr lang="en-US" b="1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pic>
        <p:nvPicPr>
          <p:cNvPr id="1028" name="Picture 4" descr="Swiggy - The Arc Web">
            <a:extLst>
              <a:ext uri="{FF2B5EF4-FFF2-40B4-BE49-F238E27FC236}">
                <a16:creationId xmlns:a16="http://schemas.microsoft.com/office/drawing/2014/main" id="{3D225201-2086-9643-7084-0BE848259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310" y="1913834"/>
            <a:ext cx="3151028" cy="287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19B6-8539-D34B-AD03-D0CA9F2B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945" y="533839"/>
            <a:ext cx="4443846" cy="610726"/>
          </a:xfrm>
        </p:spPr>
        <p:txBody>
          <a:bodyPr/>
          <a:lstStyle/>
          <a:p>
            <a:r>
              <a:rPr lang="en-US" b="1" i="1" dirty="0">
                <a:solidFill>
                  <a:srgbClr val="FC8019"/>
                </a:solidFill>
              </a:rPr>
              <a:t>Business context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DAAFF-7042-9AAC-C0F1-5241CE45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68BF4D-F5AA-0A4A-3053-611F4AA316C6}"/>
              </a:ext>
            </a:extLst>
          </p:cNvPr>
          <p:cNvGrpSpPr/>
          <p:nvPr/>
        </p:nvGrpSpPr>
        <p:grpSpPr>
          <a:xfrm>
            <a:off x="3472528" y="1081177"/>
            <a:ext cx="5536389" cy="5546228"/>
            <a:chOff x="3472529" y="1081177"/>
            <a:chExt cx="5461658" cy="554622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86C67B3-80FD-31CC-9180-1023642FA5E8}"/>
                </a:ext>
              </a:extLst>
            </p:cNvPr>
            <p:cNvSpPr/>
            <p:nvPr/>
          </p:nvSpPr>
          <p:spPr>
            <a:xfrm>
              <a:off x="4646673" y="2255321"/>
              <a:ext cx="2926362" cy="2926362"/>
            </a:xfrm>
            <a:custGeom>
              <a:avLst/>
              <a:gdLst>
                <a:gd name="csX0" fmla="*/ 0 w 2926362"/>
                <a:gd name="csY0" fmla="*/ 1463181 h 2926362"/>
                <a:gd name="csX1" fmla="*/ 1463181 w 2926362"/>
                <a:gd name="csY1" fmla="*/ 0 h 2926362"/>
                <a:gd name="csX2" fmla="*/ 2926362 w 2926362"/>
                <a:gd name="csY2" fmla="*/ 1463181 h 2926362"/>
                <a:gd name="csX3" fmla="*/ 1463181 w 2926362"/>
                <a:gd name="csY3" fmla="*/ 2926362 h 2926362"/>
                <a:gd name="csX4" fmla="*/ 0 w 2926362"/>
                <a:gd name="csY4" fmla="*/ 1463181 h 2926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26362" h="2926362">
                  <a:moveTo>
                    <a:pt x="0" y="1463181"/>
                  </a:moveTo>
                  <a:cubicBezTo>
                    <a:pt x="0" y="655088"/>
                    <a:pt x="655088" y="0"/>
                    <a:pt x="1463181" y="0"/>
                  </a:cubicBezTo>
                  <a:cubicBezTo>
                    <a:pt x="2271274" y="0"/>
                    <a:pt x="2926362" y="655088"/>
                    <a:pt x="2926362" y="1463181"/>
                  </a:cubicBezTo>
                  <a:cubicBezTo>
                    <a:pt x="2926362" y="2271274"/>
                    <a:pt x="2271274" y="2926362"/>
                    <a:pt x="1463181" y="2926362"/>
                  </a:cubicBezTo>
                  <a:cubicBezTo>
                    <a:pt x="655088" y="2926362"/>
                    <a:pt x="0" y="2271274"/>
                    <a:pt x="0" y="1463181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shade val="80000"/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480626" tIns="480626" rIns="480626" bIns="480626" numCol="1" spcCol="1270" anchor="ctr" anchorCtr="0">
              <a:noAutofit/>
            </a:bodyPr>
            <a:lstStyle/>
            <a:p>
              <a:pPr marL="0" lvl="0" indent="0" algn="ctr" defTabSz="1822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100" kern="1200" dirty="0"/>
                <a:t>Swiggy platform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1C78DCF-BA20-6DC1-C48A-5C6A3456C34A}"/>
                </a:ext>
              </a:extLst>
            </p:cNvPr>
            <p:cNvSpPr/>
            <p:nvPr/>
          </p:nvSpPr>
          <p:spPr>
            <a:xfrm>
              <a:off x="5378263" y="1081177"/>
              <a:ext cx="1656382" cy="1734759"/>
            </a:xfrm>
            <a:custGeom>
              <a:avLst/>
              <a:gdLst>
                <a:gd name="csX0" fmla="*/ 0 w 1463181"/>
                <a:gd name="csY0" fmla="*/ 731591 h 1463181"/>
                <a:gd name="csX1" fmla="*/ 731591 w 1463181"/>
                <a:gd name="csY1" fmla="*/ 0 h 1463181"/>
                <a:gd name="csX2" fmla="*/ 1463182 w 1463181"/>
                <a:gd name="csY2" fmla="*/ 731591 h 1463181"/>
                <a:gd name="csX3" fmla="*/ 731591 w 1463181"/>
                <a:gd name="csY3" fmla="*/ 1463182 h 1463181"/>
                <a:gd name="csX4" fmla="*/ 0 w 1463181"/>
                <a:gd name="csY4" fmla="*/ 731591 h 1463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63181" h="1463181">
                  <a:moveTo>
                    <a:pt x="0" y="731591"/>
                  </a:moveTo>
                  <a:cubicBezTo>
                    <a:pt x="0" y="327544"/>
                    <a:pt x="327544" y="0"/>
                    <a:pt x="731591" y="0"/>
                  </a:cubicBezTo>
                  <a:cubicBezTo>
                    <a:pt x="1135638" y="0"/>
                    <a:pt x="1463182" y="327544"/>
                    <a:pt x="1463182" y="731591"/>
                  </a:cubicBezTo>
                  <a:cubicBezTo>
                    <a:pt x="1463182" y="1135638"/>
                    <a:pt x="1135638" y="1463182"/>
                    <a:pt x="731591" y="1463182"/>
                  </a:cubicBezTo>
                  <a:cubicBezTo>
                    <a:pt x="327544" y="1463182"/>
                    <a:pt x="0" y="1135638"/>
                    <a:pt x="0" y="731591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shade val="80000"/>
                <a:alpha val="50000"/>
                <a:hueOff val="1195"/>
                <a:satOff val="0"/>
                <a:lumOff val="1171"/>
                <a:alphaOff val="7500"/>
              </a:schemeClr>
            </a:fillRef>
            <a:effectRef idx="0">
              <a:schemeClr val="accent4">
                <a:shade val="80000"/>
                <a:alpha val="50000"/>
                <a:hueOff val="1195"/>
                <a:satOff val="0"/>
                <a:lumOff val="1171"/>
                <a:alphaOff val="750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3328" tIns="233328" rIns="233328" bIns="233328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Customers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8D4C52E-03AB-B525-09AE-E896C80D5EED}"/>
                </a:ext>
              </a:extLst>
            </p:cNvPr>
            <p:cNvSpPr/>
            <p:nvPr/>
          </p:nvSpPr>
          <p:spPr>
            <a:xfrm>
              <a:off x="7283998" y="2986911"/>
              <a:ext cx="1650189" cy="1647434"/>
            </a:xfrm>
            <a:custGeom>
              <a:avLst/>
              <a:gdLst>
                <a:gd name="csX0" fmla="*/ 0 w 1463181"/>
                <a:gd name="csY0" fmla="*/ 731591 h 1463181"/>
                <a:gd name="csX1" fmla="*/ 731591 w 1463181"/>
                <a:gd name="csY1" fmla="*/ 0 h 1463181"/>
                <a:gd name="csX2" fmla="*/ 1463182 w 1463181"/>
                <a:gd name="csY2" fmla="*/ 731591 h 1463181"/>
                <a:gd name="csX3" fmla="*/ 731591 w 1463181"/>
                <a:gd name="csY3" fmla="*/ 1463182 h 1463181"/>
                <a:gd name="csX4" fmla="*/ 0 w 1463181"/>
                <a:gd name="csY4" fmla="*/ 731591 h 1463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63181" h="1463181">
                  <a:moveTo>
                    <a:pt x="0" y="731591"/>
                  </a:moveTo>
                  <a:cubicBezTo>
                    <a:pt x="0" y="327544"/>
                    <a:pt x="327544" y="0"/>
                    <a:pt x="731591" y="0"/>
                  </a:cubicBezTo>
                  <a:cubicBezTo>
                    <a:pt x="1135638" y="0"/>
                    <a:pt x="1463182" y="327544"/>
                    <a:pt x="1463182" y="731591"/>
                  </a:cubicBezTo>
                  <a:cubicBezTo>
                    <a:pt x="1463182" y="1135638"/>
                    <a:pt x="1135638" y="1463182"/>
                    <a:pt x="731591" y="1463182"/>
                  </a:cubicBezTo>
                  <a:cubicBezTo>
                    <a:pt x="327544" y="1463182"/>
                    <a:pt x="0" y="1135638"/>
                    <a:pt x="0" y="731591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shade val="80000"/>
                <a:alpha val="50000"/>
                <a:hueOff val="2390"/>
                <a:satOff val="0"/>
                <a:lumOff val="2341"/>
                <a:alphaOff val="15000"/>
              </a:schemeClr>
            </a:fillRef>
            <a:effectRef idx="0">
              <a:schemeClr val="accent4">
                <a:shade val="80000"/>
                <a:alpha val="50000"/>
                <a:hueOff val="2390"/>
                <a:satOff val="0"/>
                <a:lumOff val="2341"/>
                <a:alphaOff val="1500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3328" tIns="233328" rIns="233328" bIns="233328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Restaurants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4AD671-08D7-9D8B-CD1B-FC178931D4DC}"/>
                </a:ext>
              </a:extLst>
            </p:cNvPr>
            <p:cNvSpPr/>
            <p:nvPr/>
          </p:nvSpPr>
          <p:spPr>
            <a:xfrm>
              <a:off x="5378263" y="4892646"/>
              <a:ext cx="1656382" cy="1734759"/>
            </a:xfrm>
            <a:custGeom>
              <a:avLst/>
              <a:gdLst>
                <a:gd name="csX0" fmla="*/ 0 w 1463181"/>
                <a:gd name="csY0" fmla="*/ 731591 h 1463181"/>
                <a:gd name="csX1" fmla="*/ 731591 w 1463181"/>
                <a:gd name="csY1" fmla="*/ 0 h 1463181"/>
                <a:gd name="csX2" fmla="*/ 1463182 w 1463181"/>
                <a:gd name="csY2" fmla="*/ 731591 h 1463181"/>
                <a:gd name="csX3" fmla="*/ 731591 w 1463181"/>
                <a:gd name="csY3" fmla="*/ 1463182 h 1463181"/>
                <a:gd name="csX4" fmla="*/ 0 w 1463181"/>
                <a:gd name="csY4" fmla="*/ 731591 h 1463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63181" h="1463181">
                  <a:moveTo>
                    <a:pt x="0" y="731591"/>
                  </a:moveTo>
                  <a:cubicBezTo>
                    <a:pt x="0" y="327544"/>
                    <a:pt x="327544" y="0"/>
                    <a:pt x="731591" y="0"/>
                  </a:cubicBezTo>
                  <a:cubicBezTo>
                    <a:pt x="1135638" y="0"/>
                    <a:pt x="1463182" y="327544"/>
                    <a:pt x="1463182" y="731591"/>
                  </a:cubicBezTo>
                  <a:cubicBezTo>
                    <a:pt x="1463182" y="1135638"/>
                    <a:pt x="1135638" y="1463182"/>
                    <a:pt x="731591" y="1463182"/>
                  </a:cubicBezTo>
                  <a:cubicBezTo>
                    <a:pt x="327544" y="1463182"/>
                    <a:pt x="0" y="1135638"/>
                    <a:pt x="0" y="731591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shade val="80000"/>
                <a:alpha val="50000"/>
                <a:hueOff val="3585"/>
                <a:satOff val="0"/>
                <a:lumOff val="3512"/>
                <a:alphaOff val="22500"/>
              </a:schemeClr>
            </a:fillRef>
            <a:effectRef idx="0">
              <a:schemeClr val="accent4">
                <a:shade val="80000"/>
                <a:alpha val="50000"/>
                <a:hueOff val="3585"/>
                <a:satOff val="0"/>
                <a:lumOff val="3512"/>
                <a:alphaOff val="2250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3328" tIns="233328" rIns="233328" bIns="233328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Campaigns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DE2F6F-CEA7-8CA8-F5BF-04924FF91679}"/>
                </a:ext>
              </a:extLst>
            </p:cNvPr>
            <p:cNvSpPr/>
            <p:nvPr/>
          </p:nvSpPr>
          <p:spPr>
            <a:xfrm>
              <a:off x="3472529" y="2986911"/>
              <a:ext cx="1650189" cy="1647434"/>
            </a:xfrm>
            <a:custGeom>
              <a:avLst/>
              <a:gdLst>
                <a:gd name="csX0" fmla="*/ 0 w 1463181"/>
                <a:gd name="csY0" fmla="*/ 731591 h 1463181"/>
                <a:gd name="csX1" fmla="*/ 731591 w 1463181"/>
                <a:gd name="csY1" fmla="*/ 0 h 1463181"/>
                <a:gd name="csX2" fmla="*/ 1463182 w 1463181"/>
                <a:gd name="csY2" fmla="*/ 731591 h 1463181"/>
                <a:gd name="csX3" fmla="*/ 731591 w 1463181"/>
                <a:gd name="csY3" fmla="*/ 1463182 h 1463181"/>
                <a:gd name="csX4" fmla="*/ 0 w 1463181"/>
                <a:gd name="csY4" fmla="*/ 731591 h 14631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63181" h="1463181">
                  <a:moveTo>
                    <a:pt x="0" y="731591"/>
                  </a:moveTo>
                  <a:cubicBezTo>
                    <a:pt x="0" y="327544"/>
                    <a:pt x="327544" y="0"/>
                    <a:pt x="731591" y="0"/>
                  </a:cubicBezTo>
                  <a:cubicBezTo>
                    <a:pt x="1135638" y="0"/>
                    <a:pt x="1463182" y="327544"/>
                    <a:pt x="1463182" y="731591"/>
                  </a:cubicBezTo>
                  <a:cubicBezTo>
                    <a:pt x="1463182" y="1135638"/>
                    <a:pt x="1135638" y="1463182"/>
                    <a:pt x="731591" y="1463182"/>
                  </a:cubicBezTo>
                  <a:cubicBezTo>
                    <a:pt x="327544" y="1463182"/>
                    <a:pt x="0" y="1135638"/>
                    <a:pt x="0" y="731591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4">
                <a:shade val="80000"/>
                <a:alpha val="50000"/>
                <a:hueOff val="4780"/>
                <a:satOff val="0"/>
                <a:lumOff val="4683"/>
                <a:alphaOff val="30000"/>
              </a:schemeClr>
            </a:fillRef>
            <a:effectRef idx="0">
              <a:schemeClr val="accent4">
                <a:shade val="80000"/>
                <a:alpha val="50000"/>
                <a:hueOff val="4780"/>
                <a:satOff val="0"/>
                <a:lumOff val="4683"/>
                <a:alphaOff val="30000"/>
              </a:schemeClr>
            </a:effectRef>
            <a:fontRef idx="minor">
              <a:schemeClr val="tx1"/>
            </a:fontRef>
          </p:style>
          <p:txBody>
            <a:bodyPr spcFirstLastPara="0" vert="horz" wrap="square" lIns="233328" tIns="233328" rIns="233328" bIns="233328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Order &amp; Deliveries</a:t>
              </a:r>
            </a:p>
          </p:txBody>
        </p:sp>
      </p:grpSp>
      <p:pic>
        <p:nvPicPr>
          <p:cNvPr id="18" name="Graphic 17" descr="Customer review with solid fill">
            <a:extLst>
              <a:ext uri="{FF2B5EF4-FFF2-40B4-BE49-F238E27FC236}">
                <a16:creationId xmlns:a16="http://schemas.microsoft.com/office/drawing/2014/main" id="{FA2C97E3-43A7-0C1A-8D10-8CFE2630D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0704" y="1296512"/>
            <a:ext cx="571500" cy="571500"/>
          </a:xfrm>
          <a:prstGeom prst="rect">
            <a:avLst/>
          </a:prstGeom>
        </p:spPr>
      </p:pic>
      <p:pic>
        <p:nvPicPr>
          <p:cNvPr id="20" name="Graphic 19" descr="Truck with solid fill">
            <a:extLst>
              <a:ext uri="{FF2B5EF4-FFF2-40B4-BE49-F238E27FC236}">
                <a16:creationId xmlns:a16="http://schemas.microsoft.com/office/drawing/2014/main" id="{6BE84918-91CB-67ED-4B0B-F33A6C260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0537" y="3112365"/>
            <a:ext cx="606136" cy="606136"/>
          </a:xfrm>
          <a:prstGeom prst="rect">
            <a:avLst/>
          </a:prstGeom>
        </p:spPr>
      </p:pic>
      <p:pic>
        <p:nvPicPr>
          <p:cNvPr id="22" name="Graphic 21" descr="Table setting with solid fill">
            <a:extLst>
              <a:ext uri="{FF2B5EF4-FFF2-40B4-BE49-F238E27FC236}">
                <a16:creationId xmlns:a16="http://schemas.microsoft.com/office/drawing/2014/main" id="{48024C55-61F2-CF5F-2321-51A7D9341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8306" y="3192068"/>
            <a:ext cx="575552" cy="575552"/>
          </a:xfrm>
          <a:prstGeom prst="rect">
            <a:avLst/>
          </a:prstGeom>
        </p:spPr>
      </p:pic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2110D962-E43E-6F04-1E11-7B80360DD8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841" y="5248952"/>
            <a:ext cx="320040" cy="320040"/>
          </a:xfrm>
          <a:prstGeom prst="rect">
            <a:avLst/>
          </a:prstGeom>
        </p:spPr>
      </p:pic>
      <p:pic>
        <p:nvPicPr>
          <p:cNvPr id="24" name="Picture 2" descr="SwigL – Apps on Google Play">
            <a:extLst>
              <a:ext uri="{FF2B5EF4-FFF2-40B4-BE49-F238E27FC236}">
                <a16:creationId xmlns:a16="http://schemas.microsoft.com/office/drawing/2014/main" id="{BD5E46F2-4060-8733-8AA3-FDFAF4435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329" y="5568992"/>
            <a:ext cx="1233944" cy="123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86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D606-E9BB-E45F-25FC-CA3183CD1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498764"/>
            <a:ext cx="5223165" cy="610726"/>
          </a:xfrm>
        </p:spPr>
        <p:txBody>
          <a:bodyPr/>
          <a:lstStyle/>
          <a:p>
            <a:r>
              <a:rPr lang="en-US" b="1" i="1" dirty="0">
                <a:solidFill>
                  <a:srgbClr val="FC8019"/>
                </a:solidFill>
              </a:rPr>
              <a:t>Data Model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70A98-3E50-63B3-616B-1328FD1AF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FCCE9-BF2A-E451-5FF5-AE9E8228C11E}"/>
              </a:ext>
            </a:extLst>
          </p:cNvPr>
          <p:cNvSpPr txBox="1"/>
          <p:nvPr/>
        </p:nvSpPr>
        <p:spPr>
          <a:xfrm>
            <a:off x="800100" y="1109490"/>
            <a:ext cx="286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Fact &amp; Dimension Tables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CE6E0E8-A2B4-ABAD-CED1-FD0F7C400440}"/>
              </a:ext>
            </a:extLst>
          </p:cNvPr>
          <p:cNvSpPr/>
          <p:nvPr/>
        </p:nvSpPr>
        <p:spPr>
          <a:xfrm>
            <a:off x="4778778" y="3951315"/>
            <a:ext cx="2377440" cy="532015"/>
          </a:xfrm>
          <a:prstGeom prst="roundRect">
            <a:avLst>
              <a:gd name="adj" fmla="val 12500"/>
            </a:avLst>
          </a:prstGeom>
          <a:solidFill>
            <a:srgbClr val="F3F7FB"/>
          </a:solidFill>
          <a:ln w="12700">
            <a:solidFill>
              <a:srgbClr val="005DA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    </a:t>
            </a:r>
            <a:r>
              <a:rPr lang="en-US" dirty="0" err="1"/>
              <a:t>fact_transactions</a:t>
            </a:r>
            <a:endParaRPr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F7D353F-7669-AF93-5D99-3D42AF8E131F}"/>
              </a:ext>
            </a:extLst>
          </p:cNvPr>
          <p:cNvSpPr/>
          <p:nvPr/>
        </p:nvSpPr>
        <p:spPr>
          <a:xfrm>
            <a:off x="1045325" y="2396416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3F7FB"/>
          </a:solidFill>
          <a:ln w="12700">
            <a:solidFill>
              <a:srgbClr val="005DA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dim_coupon</a:t>
            </a:r>
            <a:endParaRPr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E371390-3E5C-24D4-DAE3-B5244F30B73C}"/>
              </a:ext>
            </a:extLst>
          </p:cNvPr>
          <p:cNvSpPr/>
          <p:nvPr/>
        </p:nvSpPr>
        <p:spPr>
          <a:xfrm>
            <a:off x="1045324" y="4922523"/>
            <a:ext cx="2702367" cy="731520"/>
          </a:xfrm>
          <a:prstGeom prst="roundRect">
            <a:avLst>
              <a:gd name="adj" fmla="val 12500"/>
            </a:avLst>
          </a:prstGeom>
          <a:solidFill>
            <a:srgbClr val="F3F7FB"/>
          </a:solidFill>
          <a:ln w="12700">
            <a:solidFill>
              <a:srgbClr val="005DA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dim_restaurant_product</a:t>
            </a:r>
            <a:endParaRPr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29D24D8-DEF0-032F-EBEB-B75D11EEB4E9}"/>
              </a:ext>
            </a:extLst>
          </p:cNvPr>
          <p:cNvSpPr/>
          <p:nvPr/>
        </p:nvSpPr>
        <p:spPr>
          <a:xfrm>
            <a:off x="4713316" y="1478822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3F7FB"/>
          </a:solidFill>
          <a:ln w="12700">
            <a:solidFill>
              <a:srgbClr val="005DA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dim_customers</a:t>
            </a:r>
            <a:endParaRPr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E7F9ADE-9149-7B89-16FB-3174F532B768}"/>
              </a:ext>
            </a:extLst>
          </p:cNvPr>
          <p:cNvSpPr/>
          <p:nvPr/>
        </p:nvSpPr>
        <p:spPr>
          <a:xfrm>
            <a:off x="8444309" y="2396416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3F7FB"/>
          </a:solidFill>
          <a:ln w="12700">
            <a:solidFill>
              <a:srgbClr val="005DA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dim_geo</a:t>
            </a:r>
            <a:endParaRPr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59E590C-B214-5BE6-FD94-1C53979DC8FF}"/>
              </a:ext>
            </a:extLst>
          </p:cNvPr>
          <p:cNvSpPr/>
          <p:nvPr/>
        </p:nvSpPr>
        <p:spPr>
          <a:xfrm>
            <a:off x="8444309" y="4922523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3F7FB"/>
          </a:solidFill>
          <a:ln w="12700">
            <a:solidFill>
              <a:srgbClr val="005DAA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/>
              <a:t>dim_campaign</a:t>
            </a:r>
            <a:endParaRPr dirty="0"/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661FC494-F9FD-EEBD-8724-3C1484246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1427" y="3028603"/>
            <a:ext cx="741218" cy="741218"/>
          </a:xfrm>
          <a:prstGeom prst="rect">
            <a:avLst/>
          </a:prstGeom>
        </p:spPr>
      </p:pic>
      <p:pic>
        <p:nvPicPr>
          <p:cNvPr id="16" name="Graphic 15" descr="Users with solid fill">
            <a:extLst>
              <a:ext uri="{FF2B5EF4-FFF2-40B4-BE49-F238E27FC236}">
                <a16:creationId xmlns:a16="http://schemas.microsoft.com/office/drawing/2014/main" id="{782934D1-0FA6-0F9A-17D8-439DBB762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0298" y="662681"/>
            <a:ext cx="914400" cy="914400"/>
          </a:xfrm>
          <a:prstGeom prst="rect">
            <a:avLst/>
          </a:prstGeom>
        </p:spPr>
      </p:pic>
      <p:pic>
        <p:nvPicPr>
          <p:cNvPr id="18" name="Graphic 17" descr="Marker with solid fill">
            <a:extLst>
              <a:ext uri="{FF2B5EF4-FFF2-40B4-BE49-F238E27FC236}">
                <a16:creationId xmlns:a16="http://schemas.microsoft.com/office/drawing/2014/main" id="{C22BAB64-BC63-6A8E-B745-FF941F9077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2083" y="1664896"/>
            <a:ext cx="731520" cy="731520"/>
          </a:xfrm>
          <a:prstGeom prst="rect">
            <a:avLst/>
          </a:prstGeom>
        </p:spPr>
      </p:pic>
      <p:pic>
        <p:nvPicPr>
          <p:cNvPr id="20" name="Graphic 19" descr="Marketing with solid fill">
            <a:extLst>
              <a:ext uri="{FF2B5EF4-FFF2-40B4-BE49-F238E27FC236}">
                <a16:creationId xmlns:a16="http://schemas.microsoft.com/office/drawing/2014/main" id="{D25D6D49-BDC1-8B1E-3F1F-B5878B04CE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69792" y="4099558"/>
            <a:ext cx="731520" cy="731520"/>
          </a:xfrm>
          <a:prstGeom prst="rect">
            <a:avLst/>
          </a:prstGeom>
        </p:spPr>
      </p:pic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646FB0BF-38A4-B836-2371-9195092A7C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8617" y="1791203"/>
            <a:ext cx="463372" cy="463372"/>
          </a:xfrm>
          <a:prstGeom prst="rect">
            <a:avLst/>
          </a:prstGeom>
        </p:spPr>
      </p:pic>
      <p:pic>
        <p:nvPicPr>
          <p:cNvPr id="23" name="Graphic 22" descr="Table setting with solid fill">
            <a:extLst>
              <a:ext uri="{FF2B5EF4-FFF2-40B4-BE49-F238E27FC236}">
                <a16:creationId xmlns:a16="http://schemas.microsoft.com/office/drawing/2014/main" id="{9C9AB5CF-8685-6DA9-FFD1-CAF376A8B8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61457" y="4045530"/>
            <a:ext cx="876993" cy="87699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D7EE56-B800-41FC-A3AA-6E0BEA9F5FA3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02036" y="2210342"/>
            <a:ext cx="0" cy="8182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2E020B3-02DB-232A-3FB8-A1CDC8F82BA5}"/>
              </a:ext>
            </a:extLst>
          </p:cNvPr>
          <p:cNvCxnSpPr>
            <a:cxnSpLocks/>
          </p:cNvCxnSpPr>
          <p:nvPr/>
        </p:nvCxnSpPr>
        <p:spPr>
          <a:xfrm>
            <a:off x="3422765" y="2851115"/>
            <a:ext cx="1970117" cy="5051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D187FA-5511-C33D-764A-2E36B75E0E3B}"/>
              </a:ext>
            </a:extLst>
          </p:cNvPr>
          <p:cNvCxnSpPr>
            <a:cxnSpLocks/>
          </p:cNvCxnSpPr>
          <p:nvPr/>
        </p:nvCxnSpPr>
        <p:spPr>
          <a:xfrm flipV="1">
            <a:off x="3765009" y="4603173"/>
            <a:ext cx="948307" cy="533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B96A3F-9691-029C-91E8-857572D451C7}"/>
              </a:ext>
            </a:extLst>
          </p:cNvPr>
          <p:cNvCxnSpPr>
            <a:cxnSpLocks/>
          </p:cNvCxnSpPr>
          <p:nvPr/>
        </p:nvCxnSpPr>
        <p:spPr>
          <a:xfrm flipH="1">
            <a:off x="6556289" y="2928686"/>
            <a:ext cx="1888020" cy="47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747C0DC-D639-05AE-5CE5-DE8B31DBD7DC}"/>
              </a:ext>
            </a:extLst>
          </p:cNvPr>
          <p:cNvCxnSpPr>
            <a:cxnSpLocks/>
          </p:cNvCxnSpPr>
          <p:nvPr/>
        </p:nvCxnSpPr>
        <p:spPr>
          <a:xfrm flipH="1" flipV="1">
            <a:off x="7263245" y="4603173"/>
            <a:ext cx="1181064" cy="6851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204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611" y="482434"/>
            <a:ext cx="4082142" cy="585788"/>
          </a:xfrm>
        </p:spPr>
        <p:txBody>
          <a:bodyPr/>
          <a:lstStyle/>
          <a:p>
            <a:r>
              <a:rPr lang="en-US" b="1" i="1" dirty="0">
                <a:solidFill>
                  <a:srgbClr val="FC8019"/>
                </a:solidFill>
              </a:rPr>
              <a:t>Analysis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0272" y="1376990"/>
            <a:ext cx="7291573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City-wise Order &amp; Delivery Performance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65292" y="2425389"/>
            <a:ext cx="4065443" cy="514350"/>
          </a:xfrm>
        </p:spPr>
        <p:txBody>
          <a:bodyPr/>
          <a:lstStyle/>
          <a:p>
            <a:r>
              <a:rPr lang="en-US" dirty="0"/>
              <a:t>Monthly Net Revenue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1326" y="3504794"/>
            <a:ext cx="4854479" cy="514350"/>
          </a:xfrm>
        </p:spPr>
        <p:txBody>
          <a:bodyPr/>
          <a:lstStyle/>
          <a:p>
            <a:r>
              <a:rPr lang="en-US" dirty="0"/>
              <a:t>Delivery Success Rate &amp; Device Usage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87091" y="4582841"/>
            <a:ext cx="4630882" cy="514350"/>
          </a:xfrm>
        </p:spPr>
        <p:txBody>
          <a:bodyPr/>
          <a:lstStyle/>
          <a:p>
            <a:r>
              <a:rPr lang="en-US" dirty="0"/>
              <a:t>Impact of Weather on Delivery Time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321145" y="2029777"/>
            <a:ext cx="45719" cy="140244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FAF5D9-5C47-5903-0A74-A78806A852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105014" y="3429000"/>
            <a:ext cx="238990" cy="151588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084053-C331-EACA-AAC3-1A84EEC9E4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508182" y="4325666"/>
            <a:ext cx="270164" cy="514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BF2E55D1-6E63-2000-8CB3-0404E531CB6E}"/>
              </a:ext>
            </a:extLst>
          </p:cNvPr>
          <p:cNvSpPr txBox="1">
            <a:spLocks/>
          </p:cNvSpPr>
          <p:nvPr/>
        </p:nvSpPr>
        <p:spPr>
          <a:xfrm>
            <a:off x="4547053" y="5569967"/>
            <a:ext cx="4630882" cy="514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Campaign Performance Analysis</a:t>
            </a:r>
          </a:p>
        </p:txBody>
      </p:sp>
      <p:pic>
        <p:nvPicPr>
          <p:cNvPr id="2050" name="Picture 2" descr="SwigL – Apps on Google Play">
            <a:extLst>
              <a:ext uri="{FF2B5EF4-FFF2-40B4-BE49-F238E27FC236}">
                <a16:creationId xmlns:a16="http://schemas.microsoft.com/office/drawing/2014/main" id="{FB62C119-748A-2F69-01BD-5640B258F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256" y="1618372"/>
            <a:ext cx="3645150" cy="364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4EED33-BAD6-4314-055A-6447ACC63679}"/>
              </a:ext>
            </a:extLst>
          </p:cNvPr>
          <p:cNvCxnSpPr/>
          <p:nvPr/>
        </p:nvCxnSpPr>
        <p:spPr>
          <a:xfrm>
            <a:off x="5278582" y="6047509"/>
            <a:ext cx="1444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0F972D-3122-49F1-3F82-50140E87A032}"/>
              </a:ext>
            </a:extLst>
          </p:cNvPr>
          <p:cNvCxnSpPr/>
          <p:nvPr/>
        </p:nvCxnSpPr>
        <p:spPr>
          <a:xfrm>
            <a:off x="5278582" y="6047509"/>
            <a:ext cx="1444336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A2D0459-BA13-335E-81C3-413E8ED5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i="1" dirty="0">
                <a:solidFill>
                  <a:srgbClr val="FC8019"/>
                </a:solidFill>
              </a:rPr>
              <a:t>Goal of the project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9EE9C90-D852-0DD7-A495-9FF2F9A433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61073" y="2371692"/>
            <a:ext cx="4031030" cy="1057308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B94847"/>
                </a:solidFill>
              </a:rPr>
              <a:t>Understand Orders across cities</a:t>
            </a:r>
          </a:p>
          <a:p>
            <a:endParaRPr lang="en-US" sz="2500" dirty="0">
              <a:solidFill>
                <a:srgbClr val="B94847"/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E15FC82-CD82-A969-143A-78D5CDCE6E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4933" y="2464890"/>
            <a:ext cx="4249239" cy="631601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B94847"/>
                </a:solidFill>
              </a:rPr>
              <a:t>Delivery performance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08954A5-2BB7-FF55-F587-FC1F591020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156" y="4154851"/>
            <a:ext cx="4031030" cy="670754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B94847"/>
                </a:solidFill>
              </a:rPr>
              <a:t>Revenue trends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4951993-D9CA-9894-ED99-2FC79CF4DB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80027" y="5366111"/>
            <a:ext cx="4031945" cy="365125"/>
          </a:xfrm>
        </p:spPr>
        <p:txBody>
          <a:bodyPr>
            <a:noAutofit/>
          </a:bodyPr>
          <a:lstStyle/>
          <a:p>
            <a:r>
              <a:rPr lang="en-US" sz="2500" dirty="0">
                <a:solidFill>
                  <a:srgbClr val="B94847"/>
                </a:solidFill>
              </a:rPr>
              <a:t>data-driven insights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FBB7C5F-6A22-CEAC-A774-62D0D49B5A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2" y="3974673"/>
            <a:ext cx="4031030" cy="1057308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rgbClr val="B94847"/>
                </a:solidFill>
              </a:rPr>
              <a:t>Impact of marketing campaigns and coupons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EF989A8-F3D0-9361-B35B-9207BDD1A1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5882" y="5507182"/>
            <a:ext cx="1314999" cy="13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8D367AB-3D9A-3F96-1FD9-5D4D492C9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42" y="341406"/>
            <a:ext cx="3139440" cy="194459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B94847"/>
                </a:solidFill>
              </a:rPr>
              <a:t>Understanding Orders across cities</a:t>
            </a:r>
            <a:br>
              <a:rPr lang="en-US" dirty="0">
                <a:solidFill>
                  <a:srgbClr val="B94847"/>
                </a:solidFill>
              </a:rPr>
            </a:b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E8EAF5-D955-FF4D-D555-52912B2E2A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8446" y="1107272"/>
            <a:ext cx="5433204" cy="365125"/>
          </a:xfrm>
        </p:spPr>
        <p:txBody>
          <a:bodyPr>
            <a:noAutofit/>
          </a:bodyPr>
          <a:lstStyle/>
          <a:p>
            <a:r>
              <a:rPr lang="en-US" sz="1500" dirty="0"/>
              <a:t>The chart compares </a:t>
            </a:r>
            <a:r>
              <a:rPr lang="en-US" sz="1500" b="1" dirty="0"/>
              <a:t>total number of orders</a:t>
            </a:r>
            <a:r>
              <a:rPr lang="en-US" sz="1500" dirty="0"/>
              <a:t> between </a:t>
            </a:r>
            <a:r>
              <a:rPr lang="en-US" sz="1500" b="1" dirty="0"/>
              <a:t>Hyderabad</a:t>
            </a:r>
            <a:r>
              <a:rPr lang="en-US" sz="1500" dirty="0"/>
              <a:t> and </a:t>
            </a:r>
            <a:r>
              <a:rPr lang="en-US" sz="1500" b="1" dirty="0"/>
              <a:t>Bangalore</a:t>
            </a:r>
            <a:endParaRPr lang="en-US" sz="15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2384690-86D2-6B6A-D3DD-7E70ED862D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9679" y="1639587"/>
            <a:ext cx="5431971" cy="557950"/>
          </a:xfrm>
        </p:spPr>
        <p:txBody>
          <a:bodyPr>
            <a:normAutofit/>
          </a:bodyPr>
          <a:lstStyle/>
          <a:p>
            <a:r>
              <a:rPr lang="en-US" sz="1500" b="1" dirty="0"/>
              <a:t>Hyderabad</a:t>
            </a:r>
            <a:r>
              <a:rPr lang="en-US" sz="1500" dirty="0"/>
              <a:t> shows </a:t>
            </a:r>
            <a:r>
              <a:rPr lang="en-US" sz="1500" b="1" dirty="0"/>
              <a:t>higher total orders (~129.6K)</a:t>
            </a:r>
            <a:r>
              <a:rPr lang="en-US" sz="1500" dirty="0"/>
              <a:t> compared to </a:t>
            </a:r>
            <a:r>
              <a:rPr lang="en-US" sz="1500" b="1" dirty="0"/>
              <a:t>Bangalore (~128.7K)</a:t>
            </a:r>
            <a:r>
              <a:rPr lang="en-US" sz="1500" dirty="0"/>
              <a:t>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542D2FB-55C7-D51C-77A4-877BF11556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8958" y="2245245"/>
            <a:ext cx="5433204" cy="1183755"/>
          </a:xfrm>
        </p:spPr>
        <p:txBody>
          <a:bodyPr>
            <a:noAutofit/>
          </a:bodyPr>
          <a:lstStyle/>
          <a:p>
            <a:r>
              <a:rPr lang="en-US" sz="1500" dirty="0"/>
              <a:t>This indicates:</a:t>
            </a:r>
          </a:p>
          <a:p>
            <a:r>
              <a:rPr lang="en-US" sz="1500" dirty="0"/>
              <a:t>Stronger customer demand in Hyderabad</a:t>
            </a:r>
          </a:p>
          <a:p>
            <a:r>
              <a:rPr lang="en-US" sz="1500" dirty="0"/>
              <a:t>Better customer engagement or higher order frequency</a:t>
            </a:r>
          </a:p>
          <a:p>
            <a:endParaRPr lang="en-US" sz="150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B3448EB-1164-80FC-92E1-FDDD0A8D63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9679" y="3464257"/>
            <a:ext cx="5431971" cy="557950"/>
          </a:xfrm>
        </p:spPr>
        <p:txBody>
          <a:bodyPr>
            <a:normAutofit/>
          </a:bodyPr>
          <a:lstStyle/>
          <a:p>
            <a:r>
              <a:rPr lang="en-US" sz="1500" dirty="0"/>
              <a:t>Bangalore has slightly </a:t>
            </a:r>
            <a:r>
              <a:rPr lang="en-US" sz="1500" b="1" dirty="0"/>
              <a:t>lower order volume</a:t>
            </a:r>
            <a:r>
              <a:rPr lang="en-US" sz="1500" dirty="0"/>
              <a:t>, showing </a:t>
            </a:r>
            <a:r>
              <a:rPr lang="en-US" sz="1500" b="1" dirty="0"/>
              <a:t>potential for growth</a:t>
            </a:r>
            <a:r>
              <a:rPr lang="en-US" sz="1500" dirty="0"/>
              <a:t>.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A90E279-6386-3FFB-786D-97D377E99BF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9679" y="4156065"/>
            <a:ext cx="5433204" cy="365125"/>
          </a:xfrm>
        </p:spPr>
        <p:txBody>
          <a:bodyPr>
            <a:noAutofit/>
          </a:bodyPr>
          <a:lstStyle/>
          <a:p>
            <a:r>
              <a:rPr lang="en-US" sz="1500" dirty="0"/>
              <a:t>The difference is not huge, which means </a:t>
            </a:r>
            <a:r>
              <a:rPr lang="en-US" sz="1500" b="1" dirty="0"/>
              <a:t>both cities are high-performing</a:t>
            </a:r>
            <a:r>
              <a:rPr lang="en-US" sz="1500" dirty="0"/>
              <a:t>, but Hyderabad is currently leading.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EA2AE2F-2B64-3729-981D-E55A0A39CFE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Autofit/>
          </a:bodyPr>
          <a:lstStyle/>
          <a:p>
            <a:r>
              <a:rPr lang="en-US" sz="1600" i="1" dirty="0">
                <a:solidFill>
                  <a:srgbClr val="7030A0"/>
                </a:solidFill>
              </a:rPr>
              <a:t>Hyderabad currently generates more orders than Bangalore, indicating higher customer engagement.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4D28A9C-540E-6251-93FD-416BB0F744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697654"/>
              </p:ext>
            </p:extLst>
          </p:nvPr>
        </p:nvGraphicFramePr>
        <p:xfrm>
          <a:off x="464127" y="2037522"/>
          <a:ext cx="5198917" cy="36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438" y="136525"/>
            <a:ext cx="5111750" cy="1204912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rgbClr val="B94847"/>
                </a:solidFill>
              </a:rPr>
              <a:t>Delivery performance</a:t>
            </a:r>
            <a:br>
              <a:rPr lang="en-US" dirty="0">
                <a:solidFill>
                  <a:srgbClr val="B94847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1286" y="4382149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b="1" dirty="0"/>
              <a:t>Android</a:t>
            </a:r>
            <a:r>
              <a:rPr lang="en-US" sz="1500" dirty="0"/>
              <a:t> dominates in both cities</a:t>
            </a:r>
          </a:p>
          <a:p>
            <a:r>
              <a:rPr lang="en-US" sz="1500" b="1" dirty="0"/>
              <a:t>iOS</a:t>
            </a:r>
            <a:r>
              <a:rPr lang="en-US" sz="1500" dirty="0"/>
              <a:t> users contribute significantly</a:t>
            </a:r>
          </a:p>
          <a:p>
            <a:r>
              <a:rPr lang="en-US" sz="1500" b="1" dirty="0"/>
              <a:t>Web</a:t>
            </a:r>
            <a:r>
              <a:rPr lang="en-US" sz="1500" dirty="0"/>
              <a:t> usage is very low in both cities</a:t>
            </a:r>
            <a:endParaRPr lang="en-US" sz="1500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4D76C-CB85-8EF6-605A-A024D9CCF4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78943" y="5144943"/>
            <a:ext cx="1713057" cy="1713057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EB9B6AE-CC88-4F86-E6CB-1481A0C8F8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233972"/>
              </p:ext>
            </p:extLst>
          </p:nvPr>
        </p:nvGraphicFramePr>
        <p:xfrm>
          <a:off x="879763" y="1430772"/>
          <a:ext cx="5403273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A276034-DC3D-ECC5-EDA9-7FF3821438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6951522"/>
              </p:ext>
            </p:extLst>
          </p:nvPr>
        </p:nvGraphicFramePr>
        <p:xfrm>
          <a:off x="5788312" y="1430772"/>
          <a:ext cx="486236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1BFBECA-E260-F3D6-AC98-E558E6C4445C}"/>
              </a:ext>
            </a:extLst>
          </p:cNvPr>
          <p:cNvSpPr txBox="1"/>
          <p:nvPr/>
        </p:nvSpPr>
        <p:spPr>
          <a:xfrm>
            <a:off x="4379481" y="3844280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Same pattern in both cities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1A218-B034-D3DA-BC03-0659FBB66BD0}"/>
              </a:ext>
            </a:extLst>
          </p:cNvPr>
          <p:cNvSpPr txBox="1"/>
          <p:nvPr/>
        </p:nvSpPr>
        <p:spPr>
          <a:xfrm>
            <a:off x="5169765" y="4643638"/>
            <a:ext cx="6099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successful deliveries are driven by mobile platforms, especially Android, while web-based orders contribute very little in both cities.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077" y="139762"/>
            <a:ext cx="4179570" cy="1715531"/>
          </a:xfrm>
        </p:spPr>
        <p:txBody>
          <a:bodyPr/>
          <a:lstStyle/>
          <a:p>
            <a:r>
              <a:rPr lang="en-US" dirty="0">
                <a:solidFill>
                  <a:srgbClr val="B94847"/>
                </a:solidFill>
              </a:rPr>
              <a:t>Revenue trends</a:t>
            </a: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765FA30-7486-4D08-89C9-639FF38C0C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606224"/>
              </p:ext>
            </p:extLst>
          </p:nvPr>
        </p:nvGraphicFramePr>
        <p:xfrm>
          <a:off x="5254683" y="1505989"/>
          <a:ext cx="6693131" cy="4105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DC6CD6-038C-ECDE-952B-373BB472DD3C}"/>
              </a:ext>
            </a:extLst>
          </p:cNvPr>
          <p:cNvSpPr txBox="1"/>
          <p:nvPr/>
        </p:nvSpPr>
        <p:spPr>
          <a:xfrm>
            <a:off x="445077" y="1682418"/>
            <a:ext cx="48096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Consistent Revenue Across Months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</a:t>
            </a:r>
            <a:r>
              <a:rPr lang="en-US" b="1" dirty="0"/>
              <a:t>Jan 2025 to Nov 2025</a:t>
            </a:r>
            <a:r>
              <a:rPr lang="en-US" dirty="0"/>
              <a:t>, both cities show </a:t>
            </a:r>
            <a:r>
              <a:rPr lang="en-US" b="1" dirty="0"/>
              <a:t>stable revenue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Monthly revenue mostly stays between </a:t>
            </a:r>
            <a:r>
              <a:rPr lang="en-US" b="1" dirty="0"/>
              <a:t>₹14–15.5 lakh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indicates </a:t>
            </a:r>
            <a:r>
              <a:rPr lang="en-US" b="1" dirty="0"/>
              <a:t>steady demand</a:t>
            </a:r>
            <a:r>
              <a:rPr lang="en-US" dirty="0"/>
              <a:t> and operational stability.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678ED-8A9B-A431-2A07-94BC96E1779B}"/>
              </a:ext>
            </a:extLst>
          </p:cNvPr>
          <p:cNvSpPr txBox="1"/>
          <p:nvPr/>
        </p:nvSpPr>
        <p:spPr>
          <a:xfrm>
            <a:off x="445077" y="3890172"/>
            <a:ext cx="51140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most months, </a:t>
            </a:r>
            <a:r>
              <a:rPr lang="en-US" b="1" dirty="0"/>
              <a:t>Bangalore revenue is marginally higher</a:t>
            </a:r>
            <a:r>
              <a:rPr lang="en-US" dirty="0"/>
              <a:t> than Hyderabad.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EC7BB-9C1A-C292-5392-F3B284582596}"/>
              </a:ext>
            </a:extLst>
          </p:cNvPr>
          <p:cNvSpPr txBox="1"/>
          <p:nvPr/>
        </p:nvSpPr>
        <p:spPr>
          <a:xfrm>
            <a:off x="445077" y="4806250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Peak Revenue Period May–August 2025</a:t>
            </a:r>
          </a:p>
          <a:p>
            <a:r>
              <a:rPr lang="en-US" dirty="0"/>
              <a:t>	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760F314-FD0C-EE0A-9F5F-FAE8AAE37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73" y="54525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campaign activity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A37EC-1802-65A2-33E3-2BBBF3D06802}"/>
              </a:ext>
            </a:extLst>
          </p:cNvPr>
          <p:cNvSpPr txBox="1"/>
          <p:nvPr/>
        </p:nvSpPr>
        <p:spPr>
          <a:xfrm>
            <a:off x="445077" y="6072756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Both cities show a </a:t>
            </a:r>
            <a:r>
              <a:rPr lang="en-US" b="1" dirty="0"/>
              <a:t>noticeable drop in Dec 2025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014" y="285510"/>
            <a:ext cx="5431971" cy="846301"/>
          </a:xfrm>
        </p:spPr>
        <p:txBody>
          <a:bodyPr/>
          <a:lstStyle/>
          <a:p>
            <a:r>
              <a:rPr lang="en-US" b="1" i="1" dirty="0">
                <a:solidFill>
                  <a:srgbClr val="FC8019"/>
                </a:solidFill>
              </a:rPr>
              <a:t>Seasonal trends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1211" y="1344233"/>
            <a:ext cx="5433204" cy="3651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/>
              <a:t>Rain significantly increases delivery time</a:t>
            </a:r>
            <a:endParaRPr lang="en-US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83892"/>
            <a:ext cx="5431971" cy="557950"/>
          </a:xfrm>
        </p:spPr>
        <p:txBody>
          <a:bodyPr>
            <a:normAutofit/>
          </a:bodyPr>
          <a:lstStyle/>
          <a:p>
            <a:r>
              <a:rPr lang="en-US" sz="1500" dirty="0"/>
              <a:t>In both cities, delivery time increases by </a:t>
            </a:r>
            <a:r>
              <a:rPr lang="en-US" sz="1500" b="1" dirty="0"/>
              <a:t>~8–9 minutes</a:t>
            </a:r>
            <a:r>
              <a:rPr lang="en-US" sz="1500" dirty="0"/>
              <a:t> during rain.</a:t>
            </a:r>
          </a:p>
          <a:p>
            <a:endParaRPr lang="en-US" sz="1500" noProof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9680" y="2700046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 b="1" dirty="0"/>
              <a:t>Bangalore has slightly higher delivery time</a:t>
            </a:r>
            <a:endParaRPr lang="en-US" sz="1500" b="1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9680" y="4814837"/>
            <a:ext cx="5431971" cy="557950"/>
          </a:xfrm>
        </p:spPr>
        <p:txBody>
          <a:bodyPr>
            <a:normAutofit/>
          </a:bodyPr>
          <a:lstStyle/>
          <a:p>
            <a:r>
              <a:rPr lang="en-US" sz="1500" dirty="0"/>
              <a:t>The impact of rain is </a:t>
            </a:r>
            <a:r>
              <a:rPr lang="en-US" sz="1500" b="1" dirty="0"/>
              <a:t>similar in both Hyderabad and Bangalore</a:t>
            </a:r>
            <a:r>
              <a:rPr lang="en-US" sz="1500" dirty="0"/>
              <a:t>, indicating a common operational challenge.</a:t>
            </a:r>
            <a:endParaRPr lang="en-US" sz="1500" noProof="1"/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1871799-5FBE-1AD8-FE93-AD535BF3E8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1984580"/>
              </p:ext>
            </p:extLst>
          </p:nvPr>
        </p:nvGraphicFramePr>
        <p:xfrm>
          <a:off x="422564" y="100867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00759FD-E06D-7884-E8A3-38329E00DF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690409"/>
              </p:ext>
            </p:extLst>
          </p:nvPr>
        </p:nvGraphicFramePr>
        <p:xfrm>
          <a:off x="422564" y="39344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9BDF6BB8-8FFB-59D1-73ED-02D8EE0DD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680" y="2846600"/>
            <a:ext cx="6038833" cy="21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Bangalore deliveries take longer than Hyderabad in both conditions.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500" dirty="0">
                <a:latin typeface="Arial" panose="020B0604020202020204" pitchFamily="34" charset="0"/>
              </a:rPr>
              <a:t>	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Could be due to: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density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 size</a:t>
            </a:r>
          </a:p>
          <a:p>
            <a:pPr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intensity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420C714-246A-E254-6E19-44F05599CC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691" y="26911"/>
            <a:ext cx="1104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075" y="362745"/>
            <a:ext cx="8421688" cy="1325563"/>
          </a:xfrm>
        </p:spPr>
        <p:txBody>
          <a:bodyPr/>
          <a:lstStyle/>
          <a:p>
            <a:r>
              <a:rPr lang="en-US" dirty="0">
                <a:solidFill>
                  <a:srgbClr val="B94847"/>
                </a:solidFill>
              </a:rPr>
              <a:t>Impact of marketing campaigns and coupons</a:t>
            </a:r>
            <a:br>
              <a:rPr lang="en-US" dirty="0">
                <a:solidFill>
                  <a:srgbClr val="B94847"/>
                </a:solidFill>
              </a:rPr>
            </a:b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965F023-9B71-1ACE-737D-FDDAA8E63C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220491"/>
              </p:ext>
            </p:extLst>
          </p:nvPr>
        </p:nvGraphicFramePr>
        <p:xfrm>
          <a:off x="5782805" y="1279524"/>
          <a:ext cx="5529431" cy="2918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BAFC894E-AA19-108A-DADC-81785FC1BE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143414"/>
              </p:ext>
            </p:extLst>
          </p:nvPr>
        </p:nvGraphicFramePr>
        <p:xfrm>
          <a:off x="838200" y="1255769"/>
          <a:ext cx="4772891" cy="2942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Rectangle 1">
            <a:extLst>
              <a:ext uri="{FF2B5EF4-FFF2-40B4-BE49-F238E27FC236}">
                <a16:creationId xmlns:a16="http://schemas.microsoft.com/office/drawing/2014/main" id="{E992AFF0-C09B-C325-FA46-A2ACECCF1F2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8200" y="4197927"/>
            <a:ext cx="3627294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Bars represent: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Exposed Orders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(Grey)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Clicked Orders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(yellow)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represents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 (%)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Email and Push campaigns are more effective than Popup campaigns in Bangalore.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E04CBF7A-C008-D04F-34E8-D18A6CA9A3F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096000" y="4319526"/>
            <a:ext cx="56635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Bars represent: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Exposed Orders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(Green)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Clicked Orders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altLang="en-US" sz="1500" dirty="0">
                <a:solidFill>
                  <a:schemeClr val="tx1"/>
                </a:solidFill>
                <a:latin typeface="Arial" panose="020B0604020202020204" pitchFamily="34" charset="0"/>
              </a:rPr>
              <a:t>B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represents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CTR (%)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Push notifications drive better engagement in Hyderabad.</a:t>
            </a: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-115741"/>
            <a:ext cx="8421688" cy="1325563"/>
          </a:xfrm>
        </p:spPr>
        <p:txBody>
          <a:bodyPr/>
          <a:lstStyle/>
          <a:p>
            <a:r>
              <a:rPr lang="en-US" b="1" i="1" dirty="0">
                <a:solidFill>
                  <a:srgbClr val="FC8019"/>
                </a:solidFill>
              </a:rPr>
              <a:t>Campaign vs no campaign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04927" y="4244291"/>
            <a:ext cx="3943627" cy="1997867"/>
          </a:xfrm>
        </p:spPr>
        <p:txBody>
          <a:bodyPr>
            <a:normAutofit/>
          </a:bodyPr>
          <a:lstStyle/>
          <a:p>
            <a:r>
              <a:rPr lang="en-US" sz="1500" dirty="0"/>
              <a:t>Majority of orders in Hyderabad happen </a:t>
            </a:r>
            <a:r>
              <a:rPr lang="en-US" sz="1500" b="1" dirty="0"/>
              <a:t>without campaigns</a:t>
            </a:r>
          </a:p>
          <a:p>
            <a:r>
              <a:rPr lang="en-US" sz="1500" dirty="0"/>
              <a:t>Campaigns still contribute a </a:t>
            </a:r>
            <a:r>
              <a:rPr lang="en-US" sz="1500" b="1" dirty="0"/>
              <a:t>significant 35%</a:t>
            </a:r>
            <a:r>
              <a:rPr lang="en-US" sz="1500" dirty="0"/>
              <a:t>, showing they drive incremental demand</a:t>
            </a:r>
            <a:endParaRPr lang="en-US" sz="1500" b="1" noProof="1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7028A54-89F2-A953-0DEC-A9A9B3E2C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702816"/>
              </p:ext>
            </p:extLst>
          </p:nvPr>
        </p:nvGraphicFramePr>
        <p:xfrm>
          <a:off x="6096000" y="1187816"/>
          <a:ext cx="3779520" cy="2916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D0406E5-9AE6-27E4-C710-7A15ADE09F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5854627"/>
              </p:ext>
            </p:extLst>
          </p:nvPr>
        </p:nvGraphicFramePr>
        <p:xfrm>
          <a:off x="1776643" y="1165811"/>
          <a:ext cx="3779520" cy="307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A42AE8F7-5C8D-75DC-7F23-CF056AFC9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43446" y="4445694"/>
            <a:ext cx="3943627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Order distribution is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almost </a:t>
            </a:r>
            <a:r>
              <a:rPr lang="en-US" altLang="en-US" sz="1500" b="1" dirty="0">
                <a:solidFill>
                  <a:schemeClr val="tx1"/>
                </a:solidFill>
              </a:rPr>
              <a:t>  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identical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Hyderabad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behavior is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consistent across cities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78" y="136525"/>
            <a:ext cx="5431971" cy="846301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FC8019"/>
                </a:solidFill>
              </a:rPr>
              <a:t>Focus Areas &amp; Required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1663" y="1534934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/>
              <a:t>Improve Delivery Efficiency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22054" y="3193923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Strengthen Mobile-First Strategy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7135" y="496504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Optimize Campaign Strategy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475CDA2-D29E-0573-55E3-14B1BE3757A0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5235575" y="1921951"/>
            <a:ext cx="5381601" cy="785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delivery time, especially during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rainy conditions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delivery partner availability during peak hours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8DB95EC-0D00-F99A-2661-17691A0692DB}"/>
              </a:ext>
            </a:extLst>
          </p:cNvPr>
          <p:cNvSpPr>
            <a:spLocks noGrp="1" noChangeArrowheads="1"/>
          </p:cNvSpPr>
          <p:nvPr>
            <p:ph type="body" sz="quarter" idx="24"/>
          </p:nvPr>
        </p:nvSpPr>
        <p:spPr bwMode="auto">
          <a:xfrm>
            <a:off x="5356946" y="3514432"/>
            <a:ext cx="5657417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and iOS platforms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most successful deliveries occur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app performance and user experience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11A0110-9FF7-9C73-608B-E562E5EE59B3}"/>
              </a:ext>
            </a:extLst>
          </p:cNvPr>
          <p:cNvSpPr>
            <a:spLocks noGrp="1" noChangeArrowheads="1"/>
          </p:cNvSpPr>
          <p:nvPr>
            <p:ph type="body" sz="quarter" idx="26"/>
          </p:nvPr>
        </p:nvSpPr>
        <p:spPr bwMode="auto">
          <a:xfrm>
            <a:off x="5440795" y="5233428"/>
            <a:ext cx="5671745" cy="785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 more in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high-performing campaigns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(Push &amp; Email)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or redesign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low-performing Popup campaigns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7AF4B-FE75-D7A3-A626-EF5A929D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852561"/>
            <a:ext cx="3924300" cy="823912"/>
          </a:xfrm>
        </p:spPr>
        <p:txBody>
          <a:bodyPr/>
          <a:lstStyle/>
          <a:p>
            <a:r>
              <a:rPr lang="en-US" b="1" dirty="0"/>
              <a:t>CONTROL COUPON BURN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6341A-8161-E89B-50E6-A9F3F6C15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33700" y="2885886"/>
            <a:ext cx="5517573" cy="823912"/>
          </a:xfrm>
        </p:spPr>
        <p:txBody>
          <a:bodyPr/>
          <a:lstStyle/>
          <a:p>
            <a:r>
              <a:rPr lang="en-US" b="1" dirty="0"/>
              <a:t>LEVERAGE DATA FOR DECISION MAKING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AEE52-CE7F-609C-5C2D-DD843FC6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2A4F4A2-BA5B-D20B-0749-34420616E7D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05159" y="1731211"/>
            <a:ext cx="6633547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high-conversion, low-burn coupons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excessive discounting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coupons to acquire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and repeat customers strategically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C18E8A7-7DB2-6CB6-049E-F4070B12566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3505159" y="3904104"/>
            <a:ext cx="6989659" cy="785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KPIs regularly (Orders, CTR, Delivery Time, Revenue)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data insights to drive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improvement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8D0CE7-E891-78A4-97F3-4CBCA56D3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000" y1="79444" x2="19444" y2="788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6127" cy="122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5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Shahnawaaz Bagwan​</a:t>
            </a:r>
          </a:p>
          <a:p>
            <a:r>
              <a:rPr lang="en-US" dirty="0">
                <a:hlinkClick r:id="rId2"/>
              </a:rPr>
              <a:t>Shahnawaaz1087@gmail.com</a:t>
            </a:r>
            <a:endParaRPr lang="en-US" dirty="0"/>
          </a:p>
          <a:p>
            <a:r>
              <a:rPr lang="en-US" dirty="0"/>
              <a:t>LinkedIn: </a:t>
            </a:r>
            <a:r>
              <a:rPr lang="en-US" dirty="0">
                <a:hlinkClick r:id="rId3"/>
              </a:rPr>
              <a:t>Shahnawaaz Bagwan | LinkedIn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/>
              <a:t>2/4/2026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175</TotalTime>
  <Words>751</Words>
  <Application>Microsoft Office PowerPoint</Application>
  <PresentationFormat>Widescreen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Tenorite</vt:lpstr>
      <vt:lpstr>Wingdings</vt:lpstr>
      <vt:lpstr>Monoline</vt:lpstr>
      <vt:lpstr>Swiggy Data Analysis</vt:lpstr>
      <vt:lpstr>ABOUT Swiggy</vt:lpstr>
      <vt:lpstr>Business context</vt:lpstr>
      <vt:lpstr>Data Model overview</vt:lpstr>
      <vt:lpstr>Analysis Objectives</vt:lpstr>
      <vt:lpstr>Goal of the project</vt:lpstr>
      <vt:lpstr>Understanding Orders across cities </vt:lpstr>
      <vt:lpstr>Delivery performance </vt:lpstr>
      <vt:lpstr>Revenue trends</vt:lpstr>
      <vt:lpstr>Seasonal trends</vt:lpstr>
      <vt:lpstr>Impact of marketing campaigns and coupons </vt:lpstr>
      <vt:lpstr>Campaign vs no campaign</vt:lpstr>
      <vt:lpstr>Focus Areas &amp; Required Improvements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Shahnawaaz Bagwan</dc:creator>
  <cp:lastModifiedBy>Shahnawaaz Bagwan</cp:lastModifiedBy>
  <cp:revision>42</cp:revision>
  <dcterms:created xsi:type="dcterms:W3CDTF">2026-02-04T17:45:02Z</dcterms:created>
  <dcterms:modified xsi:type="dcterms:W3CDTF">2026-02-04T20:40:32Z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